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chivo Black" panose="020B0604020202020204" charset="0"/>
      <p:regular r:id="rId13"/>
    </p:embeddedFont>
    <p:embeddedFont>
      <p:font typeface="Garet" panose="020B0604020202020204" charset="0"/>
      <p:regular r:id="rId14"/>
    </p:embeddedFont>
    <p:embeddedFont>
      <p:font typeface="Garet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7895" autoAdjust="0"/>
  </p:normalViewPr>
  <p:slideViewPr>
    <p:cSldViewPr>
      <p:cViewPr varScale="1">
        <p:scale>
          <a:sx n="46" d="100"/>
          <a:sy n="46" d="100"/>
        </p:scale>
        <p:origin x="118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1F48E-7FEA-480F-8672-84F9707E5EBB}" type="datetimeFigureOut">
              <a:rPr lang="en-IN" smtClean="0"/>
              <a:t>05-11-2025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9724F7-4E00-4796-A14D-D850BA39EE3B}" type="slidenum">
              <a:rPr lang="en-IN" smtClean="0"/>
              <a:t>‹#›</a:t>
            </a:fld>
            <a:endParaRPr lang="en-IN"/>
          </a:p>
        </p:txBody>
      </p:sp>
    </p:spTree>
    <p:extLst>
      <p:ext uri="{BB962C8B-B14F-4D97-AF65-F5344CB8AC3E}">
        <p14:creationId xmlns:p14="http://schemas.microsoft.com/office/powerpoint/2010/main" val="1551069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of the project was focused on calculating key numbers that describe overall sales performance. Metrics like total and average sales, profit margins, discount percentages, and return rates were calculated using Excel formulas. These figures helped build a clear picture of business performance and set the base for creating the dashboard and insights later in the project.</a:t>
            </a:r>
            <a:endParaRPr lang="en-IN" dirty="0"/>
          </a:p>
        </p:txBody>
      </p:sp>
      <p:sp>
        <p:nvSpPr>
          <p:cNvPr id="4" name="Slide Number Placeholder 3"/>
          <p:cNvSpPr>
            <a:spLocks noGrp="1"/>
          </p:cNvSpPr>
          <p:nvPr>
            <p:ph type="sldNum" sz="quarter" idx="5"/>
          </p:nvPr>
        </p:nvSpPr>
        <p:spPr/>
        <p:txBody>
          <a:bodyPr/>
          <a:lstStyle/>
          <a:p>
            <a:fld id="{219724F7-4E00-4796-A14D-D850BA39EE3B}" type="slidenum">
              <a:rPr lang="en-IN" smtClean="0"/>
              <a:t>4</a:t>
            </a:fld>
            <a:endParaRPr lang="en-IN"/>
          </a:p>
        </p:txBody>
      </p:sp>
    </p:spTree>
    <p:extLst>
      <p:ext uri="{BB962C8B-B14F-4D97-AF65-F5344CB8AC3E}">
        <p14:creationId xmlns:p14="http://schemas.microsoft.com/office/powerpoint/2010/main" val="3245827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latin typeface="Times New Roman" panose="02020603050405020304" pitchFamily="18" charset="0"/>
                <a:cs typeface="Times New Roman" panose="02020603050405020304" pitchFamily="18" charset="0"/>
              </a:rPr>
              <a:t>I created PivotTables to summarize sales across different dimensions. For product categories, I calculated the total </a:t>
            </a:r>
            <a:r>
              <a:rPr lang="en-US" sz="2000" i="1" dirty="0">
                <a:latin typeface="Times New Roman" panose="02020603050405020304" pitchFamily="18" charset="0"/>
                <a:cs typeface="Times New Roman" panose="02020603050405020304" pitchFamily="18" charset="0"/>
              </a:rPr>
              <a:t>Adjusted Sales</a:t>
            </a:r>
            <a:r>
              <a:rPr lang="en-US" sz="2000" dirty="0">
                <a:latin typeface="Times New Roman" panose="02020603050405020304" pitchFamily="18" charset="0"/>
                <a:cs typeface="Times New Roman" panose="02020603050405020304" pitchFamily="18" charset="0"/>
              </a:rPr>
              <a:t> to see which products contributed most to revenue. For sales channels, I looked at the sum and average of </a:t>
            </a:r>
            <a:r>
              <a:rPr lang="en-US" sz="2000" i="1" dirty="0">
                <a:latin typeface="Times New Roman" panose="02020603050405020304" pitchFamily="18" charset="0"/>
                <a:cs typeface="Times New Roman" panose="02020603050405020304" pitchFamily="18" charset="0"/>
              </a:rPr>
              <a:t>Adjusted Sales</a:t>
            </a:r>
            <a:r>
              <a:rPr lang="en-US" sz="2000" dirty="0">
                <a:latin typeface="Times New Roman" panose="02020603050405020304" pitchFamily="18" charset="0"/>
                <a:cs typeface="Times New Roman" panose="02020603050405020304" pitchFamily="18" charset="0"/>
              </a:rPr>
              <a:t> and total discounts to identify the most effective shipping methods. I also analyzed customer segments to track profitability and sales performance.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time-based analysis, I grouped the data by Year, Month, and Quarter using PivotTables. This helped to identify peak sales periods and seasonal trends. I then visualized these insights with Line and Column charts, which made it easier to spot high-performing months and recurring patterns across the years.</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19724F7-4E00-4796-A14D-D850BA39EE3B}" type="slidenum">
              <a:rPr lang="en-IN" smtClean="0"/>
              <a:t>5</a:t>
            </a:fld>
            <a:endParaRPr lang="en-IN"/>
          </a:p>
        </p:txBody>
      </p:sp>
    </p:spTree>
    <p:extLst>
      <p:ext uri="{BB962C8B-B14F-4D97-AF65-F5344CB8AC3E}">
        <p14:creationId xmlns:p14="http://schemas.microsoft.com/office/powerpoint/2010/main" val="2623480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Sales Dashboard summarizes key insights in a single interactive view. </a:t>
            </a:r>
            <a:r>
              <a:rPr lang="en-IN" sz="1200" b="0" i="0" kern="1200" dirty="0">
                <a:solidFill>
                  <a:schemeClr val="tx1"/>
                </a:solidFill>
                <a:effectLst/>
                <a:latin typeface="+mn-lt"/>
                <a:ea typeface="+mn-ea"/>
                <a:cs typeface="+mn-cs"/>
              </a:rPr>
              <a:t>Key Performance Indicator’s (</a:t>
            </a:r>
            <a:r>
              <a:rPr lang="en-US" sz="1200" kern="1200" dirty="0">
                <a:solidFill>
                  <a:schemeClr val="tx1"/>
                </a:solidFill>
                <a:effectLst/>
                <a:latin typeface="+mn-lt"/>
                <a:ea typeface="+mn-ea"/>
                <a:cs typeface="+mn-cs"/>
              </a:rPr>
              <a:t>KPI</a:t>
            </a:r>
            <a:r>
              <a:rPr lang="en-US" dirty="0"/>
              <a:t>s) at the top show total adjusted sales, average sales per order, total discounts, and total profit. Charts in the middle visualize trends by product category, sales channel, customer segment, and time periods. Slicers on the side allow dynamic filtering by category, segment, ship mode, and year and are linked to all PivotTables so updates reflect instantly. Formatted KPI cards, resized charts, and a clean layout create a professional, easy-to-explore dashboard that helps identify high-performing products, monitor trends, and compare metrics efficiently.</a:t>
            </a:r>
            <a:endParaRPr lang="en-IN" dirty="0"/>
          </a:p>
        </p:txBody>
      </p:sp>
      <p:sp>
        <p:nvSpPr>
          <p:cNvPr id="4" name="Slide Number Placeholder 3"/>
          <p:cNvSpPr>
            <a:spLocks noGrp="1"/>
          </p:cNvSpPr>
          <p:nvPr>
            <p:ph type="sldNum" sz="quarter" idx="5"/>
          </p:nvPr>
        </p:nvSpPr>
        <p:spPr/>
        <p:txBody>
          <a:bodyPr/>
          <a:lstStyle/>
          <a:p>
            <a:fld id="{219724F7-4E00-4796-A14D-D850BA39EE3B}" type="slidenum">
              <a:rPr lang="en-IN" smtClean="0"/>
              <a:t>6</a:t>
            </a:fld>
            <a:endParaRPr lang="en-IN"/>
          </a:p>
        </p:txBody>
      </p:sp>
    </p:spTree>
    <p:extLst>
      <p:ext uri="{BB962C8B-B14F-4D97-AF65-F5344CB8AC3E}">
        <p14:creationId xmlns:p14="http://schemas.microsoft.com/office/powerpoint/2010/main" val="2511160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Performed a Goal Seek test on a selected sales transaction to determine the quantity needed to reach a target Adjusted Sales value of AED 1000, by changing only the Quantity cell while keeping other factors constant.</a:t>
            </a:r>
            <a:br>
              <a:rPr lang="en-US" b="0" dirty="0"/>
            </a:br>
            <a:endParaRPr lang="en-US" b="0" dirty="0"/>
          </a:p>
          <a:p>
            <a:pPr marL="171450" indent="-171450">
              <a:buFont typeface="Arial" panose="020B0604020202020204" pitchFamily="34" charset="0"/>
              <a:buChar char="•"/>
            </a:pPr>
            <a:r>
              <a:rPr lang="en-US" b="0" dirty="0"/>
              <a:t>Reversed the Goal Seek process to restore the original Adjusted Sales value of AED 523.96, ensuring accuracy and validation of the model’s calculations.</a:t>
            </a:r>
            <a:br>
              <a:rPr lang="en-US" b="0" dirty="0"/>
            </a:br>
            <a:endParaRPr lang="en-US" b="0" dirty="0"/>
          </a:p>
          <a:p>
            <a:pPr marL="171450" indent="-171450">
              <a:buFont typeface="Arial" panose="020B0604020202020204" pitchFamily="34" charset="0"/>
              <a:buChar char="•"/>
            </a:pPr>
            <a:r>
              <a:rPr lang="en-US" b="0" dirty="0"/>
              <a:t>Used Scenario Manager to simulate the effect of increasing sales by 10% and reducing discounts by 5%, aiming to understand how such adjustments influence total Adjusted Sales and Profit.</a:t>
            </a:r>
            <a:br>
              <a:rPr lang="en-US" b="0" dirty="0"/>
            </a:br>
            <a:endParaRPr lang="en-US" b="0" dirty="0"/>
          </a:p>
          <a:p>
            <a:pPr marL="171450" indent="-171450">
              <a:buFont typeface="Arial" panose="020B0604020202020204" pitchFamily="34" charset="0"/>
              <a:buChar char="•"/>
            </a:pPr>
            <a:r>
              <a:rPr lang="en-US" b="0" dirty="0"/>
              <a:t>Defined Result Cells for Total Adjusted Sales and Total Profit using SUM formulas, allowing Scenario Manager to calculate and display changes for each scenario.</a:t>
            </a:r>
            <a:br>
              <a:rPr lang="en-US" b="0" dirty="0"/>
            </a:br>
            <a:endParaRPr lang="en-US" b="0" dirty="0"/>
          </a:p>
          <a:p>
            <a:pPr marL="171450" indent="-171450">
              <a:buFont typeface="Arial" panose="020B0604020202020204" pitchFamily="34" charset="0"/>
              <a:buChar char="•"/>
            </a:pPr>
            <a:r>
              <a:rPr lang="en-US" b="0" dirty="0"/>
              <a:t>Generated a Scenario Summary Report comparing the Current Case, +10% Sales, and −5% Discount scenarios, which clearly showed how performance metrics respond to pricing and sales changes, visualized through attached screenshots.</a:t>
            </a:r>
          </a:p>
          <a:p>
            <a:endParaRPr lang="en-IN" dirty="0"/>
          </a:p>
        </p:txBody>
      </p:sp>
      <p:sp>
        <p:nvSpPr>
          <p:cNvPr id="4" name="Slide Number Placeholder 3"/>
          <p:cNvSpPr>
            <a:spLocks noGrp="1"/>
          </p:cNvSpPr>
          <p:nvPr>
            <p:ph type="sldNum" sz="quarter" idx="5"/>
          </p:nvPr>
        </p:nvSpPr>
        <p:spPr/>
        <p:txBody>
          <a:bodyPr/>
          <a:lstStyle/>
          <a:p>
            <a:fld id="{219724F7-4E00-4796-A14D-D850BA39EE3B}" type="slidenum">
              <a:rPr lang="en-IN" smtClean="0"/>
              <a:t>7</a:t>
            </a:fld>
            <a:endParaRPr lang="en-IN"/>
          </a:p>
        </p:txBody>
      </p:sp>
    </p:spTree>
    <p:extLst>
      <p:ext uri="{BB962C8B-B14F-4D97-AF65-F5344CB8AC3E}">
        <p14:creationId xmlns:p14="http://schemas.microsoft.com/office/powerpoint/2010/main" val="757206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Macros were used to automate repetitive tasks across the Excel project, saving time and ensuring consistency. I recorded macros to apply worksheet formatting, including currency styles, bold headers, and frozen top rows. </a:t>
            </a:r>
            <a:br>
              <a:rPr lang="en-US" dirty="0"/>
            </a:br>
            <a:br>
              <a:rPr lang="en-US" dirty="0"/>
            </a:br>
            <a:r>
              <a:rPr lang="en-US" dirty="0"/>
              <a:t>Macros were used to automate repetitive tasks across the Excel project, saving time and ensuring consistency. I recorded macros to apply worksheet formatting, including currency styles, bold headers, and frozen top rows. Additional macros generate summary PivotTables and </a:t>
            </a:r>
            <a:r>
              <a:rPr lang="en-US" dirty="0" err="1"/>
              <a:t>PivotCharts</a:t>
            </a:r>
            <a:r>
              <a:rPr lang="en-US" dirty="0"/>
              <a:t> for adjusted sales by category, sales by ship mode, and profit by segment. Another macro updates all calculations for Adjusted Sales when new data is added. Each macro was assigned to buttons on the dashboard, allowing one-click execution for formatting, reporting, and refreshing all visualizations, making the workflow faster and more efficient.</a:t>
            </a:r>
            <a:endParaRPr lang="en-IN" dirty="0"/>
          </a:p>
        </p:txBody>
      </p:sp>
      <p:sp>
        <p:nvSpPr>
          <p:cNvPr id="4" name="Slide Number Placeholder 3"/>
          <p:cNvSpPr>
            <a:spLocks noGrp="1"/>
          </p:cNvSpPr>
          <p:nvPr>
            <p:ph type="sldNum" sz="quarter" idx="5"/>
          </p:nvPr>
        </p:nvSpPr>
        <p:spPr/>
        <p:txBody>
          <a:bodyPr/>
          <a:lstStyle/>
          <a:p>
            <a:fld id="{219724F7-4E00-4796-A14D-D850BA39EE3B}" type="slidenum">
              <a:rPr lang="en-IN" smtClean="0"/>
              <a:t>8</a:t>
            </a:fld>
            <a:endParaRPr lang="en-IN"/>
          </a:p>
        </p:txBody>
      </p:sp>
    </p:spTree>
    <p:extLst>
      <p:ext uri="{BB962C8B-B14F-4D97-AF65-F5344CB8AC3E}">
        <p14:creationId xmlns:p14="http://schemas.microsoft.com/office/powerpoint/2010/main" val="3656907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3313052" y="719672"/>
            <a:ext cx="8963205" cy="7932436"/>
          </a:xfrm>
          <a:custGeom>
            <a:avLst/>
            <a:gdLst/>
            <a:ahLst/>
            <a:cxnLst/>
            <a:rect l="l" t="t" r="r" b="b"/>
            <a:pathLst>
              <a:path w="8963205" h="7932436">
                <a:moveTo>
                  <a:pt x="0" y="0"/>
                </a:moveTo>
                <a:lnTo>
                  <a:pt x="8963205" y="0"/>
                </a:lnTo>
                <a:lnTo>
                  <a:pt x="8963205" y="7932437"/>
                </a:lnTo>
                <a:lnTo>
                  <a:pt x="0" y="7932437"/>
                </a:lnTo>
                <a:lnTo>
                  <a:pt x="0" y="0"/>
                </a:lnTo>
                <a:close/>
              </a:path>
            </a:pathLst>
          </a:custGeom>
          <a:blipFill>
            <a:blip r:embed="rId3"/>
            <a:stretch>
              <a:fillRect/>
            </a:stretch>
          </a:blipFill>
        </p:spPr>
      </p:sp>
      <p:sp>
        <p:nvSpPr>
          <p:cNvPr id="4" name="TextBox 4"/>
          <p:cNvSpPr txBox="1"/>
          <p:nvPr/>
        </p:nvSpPr>
        <p:spPr>
          <a:xfrm>
            <a:off x="7885470" y="6394076"/>
            <a:ext cx="9373830" cy="370917"/>
          </a:xfrm>
          <a:prstGeom prst="rect">
            <a:avLst/>
          </a:prstGeom>
        </p:spPr>
        <p:txBody>
          <a:bodyPr lIns="0" tIns="0" rIns="0" bIns="0" rtlCol="0" anchor="t">
            <a:spAutoFit/>
          </a:bodyPr>
          <a:lstStyle/>
          <a:p>
            <a:pPr marL="0" lvl="0" indent="0" algn="r">
              <a:lnSpc>
                <a:spcPts val="2748"/>
              </a:lnSpc>
              <a:spcBef>
                <a:spcPct val="0"/>
              </a:spcBef>
            </a:pPr>
            <a:r>
              <a:rPr lang="en-US" sz="2748" spc="-217">
                <a:solidFill>
                  <a:srgbClr val="000000"/>
                </a:solidFill>
                <a:latin typeface="Archivo Black"/>
                <a:ea typeface="Archivo Black"/>
                <a:cs typeface="Archivo Black"/>
                <a:sym typeface="Archivo Black"/>
              </a:rPr>
              <a:t>Advanced Excel Reinforcement Project </a:t>
            </a:r>
          </a:p>
        </p:txBody>
      </p:sp>
      <p:sp>
        <p:nvSpPr>
          <p:cNvPr id="5" name="TextBox 5"/>
          <p:cNvSpPr txBox="1"/>
          <p:nvPr/>
        </p:nvSpPr>
        <p:spPr>
          <a:xfrm>
            <a:off x="4724439" y="3950633"/>
            <a:ext cx="12534861" cy="2304638"/>
          </a:xfrm>
          <a:prstGeom prst="rect">
            <a:avLst/>
          </a:prstGeom>
        </p:spPr>
        <p:txBody>
          <a:bodyPr lIns="0" tIns="0" rIns="0" bIns="0" rtlCol="0" anchor="t">
            <a:spAutoFit/>
          </a:bodyPr>
          <a:lstStyle/>
          <a:p>
            <a:pPr marL="0" lvl="0" indent="0" algn="r">
              <a:lnSpc>
                <a:spcPts val="8490"/>
              </a:lnSpc>
              <a:spcBef>
                <a:spcPct val="0"/>
              </a:spcBef>
            </a:pPr>
            <a:r>
              <a:rPr lang="en-US" sz="10885" spc="-859">
                <a:solidFill>
                  <a:srgbClr val="000000"/>
                </a:solidFill>
                <a:latin typeface="Archivo Black"/>
                <a:ea typeface="Archivo Black"/>
                <a:cs typeface="Archivo Black"/>
                <a:sym typeface="Archivo Black"/>
              </a:rPr>
              <a:t>SAL</a:t>
            </a:r>
            <a:r>
              <a:rPr lang="en-US" sz="10885" u="none" spc="-859">
                <a:solidFill>
                  <a:srgbClr val="000000"/>
                </a:solidFill>
                <a:latin typeface="Archivo Black"/>
                <a:ea typeface="Archivo Black"/>
                <a:cs typeface="Archivo Black"/>
                <a:sym typeface="Archivo Black"/>
              </a:rPr>
              <a:t>ES DATASET ANALYSIS</a:t>
            </a:r>
          </a:p>
        </p:txBody>
      </p:sp>
      <p:sp>
        <p:nvSpPr>
          <p:cNvPr id="8" name="TextBox 8"/>
          <p:cNvSpPr txBox="1"/>
          <p:nvPr/>
        </p:nvSpPr>
        <p:spPr>
          <a:xfrm>
            <a:off x="4394796" y="8995359"/>
            <a:ext cx="3366096" cy="236855"/>
          </a:xfrm>
          <a:prstGeom prst="rect">
            <a:avLst/>
          </a:prstGeom>
        </p:spPr>
        <p:txBody>
          <a:bodyPr lIns="0" tIns="0" rIns="0" bIns="0" rtlCol="0" anchor="t">
            <a:spAutoFit/>
          </a:bodyPr>
          <a:lstStyle/>
          <a:p>
            <a:pPr marL="0" lvl="0" indent="0" algn="l">
              <a:lnSpc>
                <a:spcPts val="2079"/>
              </a:lnSpc>
              <a:spcBef>
                <a:spcPct val="0"/>
              </a:spcBef>
            </a:pPr>
            <a:r>
              <a:rPr lang="en-US" sz="1599" b="1">
                <a:solidFill>
                  <a:srgbClr val="2B2B2B"/>
                </a:solidFill>
                <a:latin typeface="Garet Bold"/>
                <a:ea typeface="Garet Bold"/>
                <a:cs typeface="Garet Bold"/>
                <a:sym typeface="Garet Bold"/>
              </a:rPr>
              <a:t>PRESENTED BY:</a:t>
            </a:r>
          </a:p>
        </p:txBody>
      </p:sp>
      <p:sp>
        <p:nvSpPr>
          <p:cNvPr id="9" name="TextBox 9"/>
          <p:cNvSpPr txBox="1"/>
          <p:nvPr/>
        </p:nvSpPr>
        <p:spPr>
          <a:xfrm>
            <a:off x="4394796" y="9284386"/>
            <a:ext cx="3366096" cy="263534"/>
          </a:xfrm>
          <a:prstGeom prst="rect">
            <a:avLst/>
          </a:prstGeom>
        </p:spPr>
        <p:txBody>
          <a:bodyPr lIns="0" tIns="0" rIns="0" bIns="0" rtlCol="0" anchor="t">
            <a:spAutoFit/>
          </a:bodyPr>
          <a:lstStyle/>
          <a:p>
            <a:pPr marL="0" lvl="0" indent="0" algn="l">
              <a:lnSpc>
                <a:spcPts val="2079"/>
              </a:lnSpc>
              <a:spcBef>
                <a:spcPct val="0"/>
              </a:spcBef>
            </a:pPr>
            <a:r>
              <a:rPr lang="en-US" sz="1599" dirty="0">
                <a:solidFill>
                  <a:srgbClr val="2B2B2B"/>
                </a:solidFill>
                <a:latin typeface="Garet"/>
                <a:ea typeface="Garet"/>
                <a:cs typeface="Garet"/>
                <a:sym typeface="Garet"/>
              </a:rPr>
              <a:t>Firozullah Beigh</a:t>
            </a:r>
          </a:p>
        </p:txBody>
      </p:sp>
      <p:sp>
        <p:nvSpPr>
          <p:cNvPr id="10" name="TextBox 10"/>
          <p:cNvSpPr txBox="1"/>
          <p:nvPr/>
        </p:nvSpPr>
        <p:spPr>
          <a:xfrm>
            <a:off x="7760892" y="8995359"/>
            <a:ext cx="3366096" cy="236855"/>
          </a:xfrm>
          <a:prstGeom prst="rect">
            <a:avLst/>
          </a:prstGeom>
        </p:spPr>
        <p:txBody>
          <a:bodyPr lIns="0" tIns="0" rIns="0" bIns="0" rtlCol="0" anchor="t">
            <a:spAutoFit/>
          </a:bodyPr>
          <a:lstStyle/>
          <a:p>
            <a:pPr marL="0" lvl="0" indent="0" algn="l">
              <a:lnSpc>
                <a:spcPts val="2079"/>
              </a:lnSpc>
              <a:spcBef>
                <a:spcPct val="0"/>
              </a:spcBef>
            </a:pPr>
            <a:r>
              <a:rPr lang="en-US" sz="1599" b="1">
                <a:solidFill>
                  <a:srgbClr val="2B2B2B"/>
                </a:solidFill>
                <a:latin typeface="Garet Bold"/>
                <a:ea typeface="Garet Bold"/>
                <a:cs typeface="Garet Bold"/>
                <a:sym typeface="Garet Bold"/>
              </a:rPr>
              <a:t>DATE:</a:t>
            </a:r>
          </a:p>
        </p:txBody>
      </p:sp>
      <p:sp>
        <p:nvSpPr>
          <p:cNvPr id="11" name="TextBox 11"/>
          <p:cNvSpPr txBox="1"/>
          <p:nvPr/>
        </p:nvSpPr>
        <p:spPr>
          <a:xfrm>
            <a:off x="7760892" y="9284386"/>
            <a:ext cx="3366096" cy="236855"/>
          </a:xfrm>
          <a:prstGeom prst="rect">
            <a:avLst/>
          </a:prstGeom>
        </p:spPr>
        <p:txBody>
          <a:bodyPr lIns="0" tIns="0" rIns="0" bIns="0" rtlCol="0" anchor="t">
            <a:spAutoFit/>
          </a:bodyPr>
          <a:lstStyle/>
          <a:p>
            <a:pPr marL="0" lvl="0" indent="0" algn="l">
              <a:lnSpc>
                <a:spcPts val="2079"/>
              </a:lnSpc>
              <a:spcBef>
                <a:spcPct val="0"/>
              </a:spcBef>
            </a:pPr>
            <a:r>
              <a:rPr lang="en-US" sz="1599">
                <a:solidFill>
                  <a:srgbClr val="2B2B2B"/>
                </a:solidFill>
                <a:latin typeface="Garet"/>
                <a:ea typeface="Garet"/>
                <a:cs typeface="Garet"/>
                <a:sym typeface="Garet"/>
              </a:rPr>
              <a:t>25/10/2025</a:t>
            </a:r>
          </a:p>
        </p:txBody>
      </p:sp>
      <p:sp>
        <p:nvSpPr>
          <p:cNvPr id="12" name="Freeform 12"/>
          <p:cNvSpPr/>
          <p:nvPr/>
        </p:nvSpPr>
        <p:spPr>
          <a:xfrm>
            <a:off x="11332964" y="697530"/>
            <a:ext cx="7692673" cy="923121"/>
          </a:xfrm>
          <a:custGeom>
            <a:avLst/>
            <a:gdLst/>
            <a:ahLst/>
            <a:cxnLst/>
            <a:rect l="l" t="t" r="r" b="b"/>
            <a:pathLst>
              <a:path w="7692673" h="923121">
                <a:moveTo>
                  <a:pt x="0" y="0"/>
                </a:moveTo>
                <a:lnTo>
                  <a:pt x="7692673" y="0"/>
                </a:lnTo>
                <a:lnTo>
                  <a:pt x="7692673" y="923121"/>
                </a:lnTo>
                <a:lnTo>
                  <a:pt x="0" y="923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4040465" y="2057400"/>
            <a:ext cx="8495071" cy="8229600"/>
          </a:xfrm>
          <a:custGeom>
            <a:avLst/>
            <a:gdLst/>
            <a:ahLst/>
            <a:cxnLst/>
            <a:rect l="l" t="t" r="r" b="b"/>
            <a:pathLst>
              <a:path w="8495071" h="8229600">
                <a:moveTo>
                  <a:pt x="0" y="0"/>
                </a:moveTo>
                <a:lnTo>
                  <a:pt x="8495070" y="0"/>
                </a:lnTo>
                <a:lnTo>
                  <a:pt x="8495070" y="8229600"/>
                </a:lnTo>
                <a:lnTo>
                  <a:pt x="0" y="8229600"/>
                </a:lnTo>
                <a:lnTo>
                  <a:pt x="0" y="0"/>
                </a:lnTo>
                <a:close/>
              </a:path>
            </a:pathLst>
          </a:custGeom>
          <a:blipFill>
            <a:blip r:embed="rId3"/>
            <a:stretch>
              <a:fillRect/>
            </a:stretch>
          </a:blipFill>
        </p:spPr>
      </p:sp>
      <p:sp>
        <p:nvSpPr>
          <p:cNvPr id="4" name="TextBox 4"/>
          <p:cNvSpPr txBox="1"/>
          <p:nvPr/>
        </p:nvSpPr>
        <p:spPr>
          <a:xfrm>
            <a:off x="1028700" y="1123950"/>
            <a:ext cx="7279037" cy="1519129"/>
          </a:xfrm>
          <a:prstGeom prst="rect">
            <a:avLst/>
          </a:prstGeom>
        </p:spPr>
        <p:txBody>
          <a:bodyPr lIns="0" tIns="0" rIns="0" bIns="0" rtlCol="0" anchor="t">
            <a:spAutoFit/>
          </a:bodyPr>
          <a:lstStyle/>
          <a:p>
            <a:pPr marL="0" lvl="0" indent="0" algn="l">
              <a:lnSpc>
                <a:spcPts val="5808"/>
              </a:lnSpc>
              <a:spcBef>
                <a:spcPct val="0"/>
              </a:spcBef>
            </a:pPr>
            <a:r>
              <a:rPr lang="en-US" sz="5808" spc="-458">
                <a:solidFill>
                  <a:srgbClr val="000000"/>
                </a:solidFill>
                <a:latin typeface="Archivo Black"/>
                <a:ea typeface="Archivo Black"/>
                <a:cs typeface="Archivo Black"/>
                <a:sym typeface="Archivo Black"/>
              </a:rPr>
              <a:t>Project Overview &amp; Objectives</a:t>
            </a:r>
          </a:p>
        </p:txBody>
      </p:sp>
      <p:sp>
        <p:nvSpPr>
          <p:cNvPr id="5" name="TextBox 5"/>
          <p:cNvSpPr txBox="1"/>
          <p:nvPr/>
        </p:nvSpPr>
        <p:spPr>
          <a:xfrm>
            <a:off x="1228256" y="3217005"/>
            <a:ext cx="11581449" cy="952800"/>
          </a:xfrm>
          <a:prstGeom prst="rect">
            <a:avLst/>
          </a:prstGeom>
        </p:spPr>
        <p:txBody>
          <a:bodyPr lIns="0" tIns="0" rIns="0" bIns="0" rtlCol="0" anchor="t">
            <a:spAutoFit/>
          </a:bodyPr>
          <a:lstStyle/>
          <a:p>
            <a:pPr algn="l">
              <a:lnSpc>
                <a:spcPts val="3859"/>
              </a:lnSpc>
              <a:spcBef>
                <a:spcPct val="0"/>
              </a:spcBef>
            </a:pPr>
            <a:r>
              <a:rPr lang="en-US" sz="2756">
                <a:solidFill>
                  <a:srgbClr val="000000"/>
                </a:solidFill>
                <a:latin typeface="Garet"/>
                <a:ea typeface="Garet"/>
                <a:cs typeface="Garet"/>
                <a:sym typeface="Garet"/>
              </a:rPr>
              <a:t>To analyze sales data to identify trends, evaluate performance, and provide actionable business insights.</a:t>
            </a:r>
          </a:p>
        </p:txBody>
      </p:sp>
      <p:sp>
        <p:nvSpPr>
          <p:cNvPr id="6" name="TextBox 6"/>
          <p:cNvSpPr txBox="1"/>
          <p:nvPr/>
        </p:nvSpPr>
        <p:spPr>
          <a:xfrm>
            <a:off x="1228256" y="4527532"/>
            <a:ext cx="13776523" cy="2903178"/>
          </a:xfrm>
          <a:prstGeom prst="rect">
            <a:avLst/>
          </a:prstGeom>
        </p:spPr>
        <p:txBody>
          <a:bodyPr lIns="0" tIns="0" rIns="0" bIns="0" rtlCol="0" anchor="t">
            <a:spAutoFit/>
          </a:bodyPr>
          <a:lstStyle/>
          <a:p>
            <a:pPr algn="l">
              <a:lnSpc>
                <a:spcPts val="3859"/>
              </a:lnSpc>
            </a:pPr>
            <a:r>
              <a:rPr lang="en-US" sz="2756">
                <a:solidFill>
                  <a:srgbClr val="000000"/>
                </a:solidFill>
                <a:latin typeface="Garet"/>
                <a:ea typeface="Garet"/>
                <a:cs typeface="Garet"/>
                <a:sym typeface="Garet"/>
              </a:rPr>
              <a:t>Goals:</a:t>
            </a:r>
          </a:p>
          <a:p>
            <a:pPr marL="595113" lvl="1" indent="-297557" algn="l">
              <a:lnSpc>
                <a:spcPts val="3859"/>
              </a:lnSpc>
              <a:buFont typeface="Arial"/>
              <a:buChar char="•"/>
            </a:pPr>
            <a:r>
              <a:rPr lang="en-US" sz="2756">
                <a:solidFill>
                  <a:srgbClr val="000000"/>
                </a:solidFill>
                <a:latin typeface="Garet"/>
                <a:ea typeface="Garet"/>
                <a:cs typeface="Garet"/>
                <a:sym typeface="Garet"/>
              </a:rPr>
              <a:t>Analyze sales trends over time.</a:t>
            </a:r>
          </a:p>
          <a:p>
            <a:pPr marL="595113" lvl="1" indent="-297557" algn="l">
              <a:lnSpc>
                <a:spcPts val="3859"/>
              </a:lnSpc>
              <a:buFont typeface="Arial"/>
              <a:buChar char="•"/>
            </a:pPr>
            <a:r>
              <a:rPr lang="en-US" sz="2756">
                <a:solidFill>
                  <a:srgbClr val="000000"/>
                </a:solidFill>
                <a:latin typeface="Garet"/>
                <a:ea typeface="Garet"/>
                <a:cs typeface="Garet"/>
                <a:sym typeface="Garet"/>
              </a:rPr>
              <a:t>Identify top-performing products and channels.</a:t>
            </a:r>
          </a:p>
          <a:p>
            <a:pPr marL="595113" lvl="1" indent="-297557" algn="l">
              <a:lnSpc>
                <a:spcPts val="3859"/>
              </a:lnSpc>
              <a:buFont typeface="Arial"/>
              <a:buChar char="•"/>
            </a:pPr>
            <a:r>
              <a:rPr lang="en-US" sz="2756">
                <a:solidFill>
                  <a:srgbClr val="000000"/>
                </a:solidFill>
                <a:latin typeface="Garet"/>
                <a:ea typeface="Garet"/>
                <a:cs typeface="Garet"/>
                <a:sym typeface="Garet"/>
              </a:rPr>
              <a:t>Assess discount and profit relationships.</a:t>
            </a:r>
          </a:p>
          <a:p>
            <a:pPr marL="595113" lvl="1" indent="-297557" algn="l">
              <a:lnSpc>
                <a:spcPts val="3859"/>
              </a:lnSpc>
              <a:spcBef>
                <a:spcPct val="0"/>
              </a:spcBef>
              <a:buFont typeface="Arial"/>
              <a:buChar char="•"/>
            </a:pPr>
            <a:r>
              <a:rPr lang="en-US" sz="2756">
                <a:solidFill>
                  <a:srgbClr val="000000"/>
                </a:solidFill>
                <a:latin typeface="Garet"/>
                <a:ea typeface="Garet"/>
                <a:cs typeface="Garet"/>
                <a:sym typeface="Garet"/>
              </a:rPr>
              <a:t>Build an interactive sales dashboard with KPIs and automation.</a:t>
            </a:r>
          </a:p>
          <a:p>
            <a:pPr algn="l">
              <a:lnSpc>
                <a:spcPts val="3859"/>
              </a:lnSpc>
              <a:spcBef>
                <a:spcPct val="0"/>
              </a:spcBef>
            </a:pPr>
            <a:endParaRPr lang="en-US" sz="2756">
              <a:solidFill>
                <a:srgbClr val="000000"/>
              </a:solidFill>
              <a:latin typeface="Garet"/>
              <a:ea typeface="Garet"/>
              <a:cs typeface="Garet"/>
              <a:sym typeface="Garet"/>
            </a:endParaRPr>
          </a:p>
        </p:txBody>
      </p:sp>
      <p:sp>
        <p:nvSpPr>
          <p:cNvPr id="7" name="Freeform 7"/>
          <p:cNvSpPr/>
          <p:nvPr/>
        </p:nvSpPr>
        <p:spPr>
          <a:xfrm rot="-10800000">
            <a:off x="15336716" y="-1995596"/>
            <a:ext cx="2611028" cy="4114800"/>
          </a:xfrm>
          <a:custGeom>
            <a:avLst/>
            <a:gdLst/>
            <a:ahLst/>
            <a:cxnLst/>
            <a:rect l="l" t="t" r="r" b="b"/>
            <a:pathLst>
              <a:path w="2611028" h="4114800">
                <a:moveTo>
                  <a:pt x="0" y="0"/>
                </a:moveTo>
                <a:lnTo>
                  <a:pt x="2611027" y="0"/>
                </a:lnTo>
                <a:lnTo>
                  <a:pt x="261102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AutoShape 8"/>
          <p:cNvSpPr/>
          <p:nvPr/>
        </p:nvSpPr>
        <p:spPr>
          <a:xfrm>
            <a:off x="-585133" y="9282113"/>
            <a:ext cx="18873133" cy="0"/>
          </a:xfrm>
          <a:prstGeom prst="line">
            <a:avLst/>
          </a:prstGeom>
          <a:ln w="9525" cap="rnd">
            <a:solidFill>
              <a:srgbClr val="000000"/>
            </a:solidFill>
            <a:prstDash val="solid"/>
            <a:headEnd type="none" w="sm" len="sm"/>
            <a:tailEnd type="none" w="sm" len="sm"/>
          </a:ln>
        </p:spPr>
      </p:sp>
      <p:sp>
        <p:nvSpPr>
          <p:cNvPr id="9" name="AutoShape 9"/>
          <p:cNvSpPr/>
          <p:nvPr/>
        </p:nvSpPr>
        <p:spPr>
          <a:xfrm>
            <a:off x="-585133" y="9810754"/>
            <a:ext cx="18873133" cy="0"/>
          </a:xfrm>
          <a:prstGeom prst="line">
            <a:avLst/>
          </a:prstGeom>
          <a:ln w="9525" cap="rnd">
            <a:solidFill>
              <a:srgbClr val="000000"/>
            </a:solidFill>
            <a:prstDash val="solid"/>
            <a:headEnd type="none" w="sm" len="sm"/>
            <a:tailEnd type="none" w="sm" len="sm"/>
          </a:ln>
        </p:spPr>
      </p:sp>
      <p:sp>
        <p:nvSpPr>
          <p:cNvPr id="10" name="TextBox 10"/>
          <p:cNvSpPr txBox="1"/>
          <p:nvPr/>
        </p:nvSpPr>
        <p:spPr>
          <a:xfrm>
            <a:off x="13626661" y="9339740"/>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02/10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7" name="TextBox 7"/>
          <p:cNvSpPr txBox="1"/>
          <p:nvPr/>
        </p:nvSpPr>
        <p:spPr>
          <a:xfrm>
            <a:off x="10010684" y="3348004"/>
            <a:ext cx="7042906" cy="5035692"/>
          </a:xfrm>
          <a:prstGeom prst="rect">
            <a:avLst/>
          </a:prstGeom>
        </p:spPr>
        <p:txBody>
          <a:bodyPr lIns="0" tIns="0" rIns="0" bIns="0" rtlCol="0" anchor="t">
            <a:spAutoFit/>
          </a:bodyPr>
          <a:lstStyle/>
          <a:p>
            <a:pPr marL="268666" lvl="1" indent="-134333" algn="l">
              <a:lnSpc>
                <a:spcPts val="1742"/>
              </a:lnSpc>
              <a:buFont typeface="Arial"/>
              <a:buChar char="•"/>
            </a:pPr>
            <a:r>
              <a:rPr lang="en-US" sz="1244" dirty="0">
                <a:solidFill>
                  <a:srgbClr val="000000"/>
                </a:solidFill>
                <a:latin typeface="Garet"/>
                <a:ea typeface="Garet"/>
                <a:cs typeface="Garet"/>
                <a:sym typeface="Garet"/>
              </a:rPr>
              <a:t>Imported the raw dataset using Get Data  then From File (CSV/Excel) in Power Query.</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Removed blank rows and duplicate entries to ensure clean and accurate data.</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Set proper data types for each column, including dates for Order Date and Ship Date, and decimals for Sales, Profit, Discount, and Quantity.</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Renamed the query as </a:t>
            </a:r>
            <a:r>
              <a:rPr lang="en-US" sz="1244" dirty="0" err="1">
                <a:solidFill>
                  <a:srgbClr val="000000"/>
                </a:solidFill>
                <a:latin typeface="Garet"/>
                <a:ea typeface="Garet"/>
                <a:cs typeface="Garet"/>
                <a:sym typeface="Garet"/>
              </a:rPr>
              <a:t>Cleaned_Superstores_Sales_Dataset</a:t>
            </a:r>
            <a:r>
              <a:rPr lang="en-US" sz="1244" dirty="0">
                <a:solidFill>
                  <a:srgbClr val="000000"/>
                </a:solidFill>
                <a:latin typeface="Garet"/>
                <a:ea typeface="Garet"/>
                <a:cs typeface="Garet"/>
                <a:sym typeface="Garet"/>
              </a:rPr>
              <a:t> for better organization and tracking.</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Loaded the cleaned dataset into Excel as a formatted table for further analysis.</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Adjusted the column widths using the shortcut ALT + H + O + I to make all data clearly visible.</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Verified all records to confirm consistency and correctness before proceeding to analysis.</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Detected and highlighted potential outliers in sales and discount values using conditional formatting.</a:t>
            </a:r>
          </a:p>
          <a:p>
            <a:pPr algn="l">
              <a:lnSpc>
                <a:spcPts val="1742"/>
              </a:lnSpc>
            </a:pPr>
            <a:endParaRPr lang="en-US" sz="1244" dirty="0">
              <a:solidFill>
                <a:srgbClr val="000000"/>
              </a:solidFill>
              <a:latin typeface="Garet"/>
              <a:ea typeface="Garet"/>
              <a:cs typeface="Garet"/>
              <a:sym typeface="Garet"/>
            </a:endParaRPr>
          </a:p>
          <a:p>
            <a:pPr marL="268666" lvl="1" indent="-134333" algn="l">
              <a:lnSpc>
                <a:spcPts val="1742"/>
              </a:lnSpc>
              <a:buFont typeface="Arial"/>
              <a:buChar char="•"/>
            </a:pPr>
            <a:r>
              <a:rPr lang="en-US" sz="1244" dirty="0">
                <a:solidFill>
                  <a:srgbClr val="000000"/>
                </a:solidFill>
                <a:latin typeface="Garet"/>
                <a:ea typeface="Garet"/>
                <a:cs typeface="Garet"/>
                <a:sym typeface="Garet"/>
              </a:rPr>
              <a:t>Ensured all numerical fields were converted to Currency (AED) for standardization.</a:t>
            </a:r>
          </a:p>
        </p:txBody>
      </p:sp>
      <p:sp>
        <p:nvSpPr>
          <p:cNvPr id="8" name="TextBox 8"/>
          <p:cNvSpPr txBox="1"/>
          <p:nvPr/>
        </p:nvSpPr>
        <p:spPr>
          <a:xfrm>
            <a:off x="10010684" y="2848259"/>
            <a:ext cx="11703599" cy="375919"/>
          </a:xfrm>
          <a:prstGeom prst="rect">
            <a:avLst/>
          </a:prstGeom>
        </p:spPr>
        <p:txBody>
          <a:bodyPr lIns="0" tIns="0" rIns="0" bIns="0" rtlCol="0" anchor="t">
            <a:spAutoFit/>
          </a:bodyPr>
          <a:lstStyle/>
          <a:p>
            <a:pPr marL="0" lvl="0" indent="0" algn="just">
              <a:lnSpc>
                <a:spcPts val="2799"/>
              </a:lnSpc>
              <a:spcBef>
                <a:spcPct val="0"/>
              </a:spcBef>
            </a:pPr>
            <a:r>
              <a:rPr lang="en-US" sz="2799" spc="-221" dirty="0">
                <a:solidFill>
                  <a:srgbClr val="000000"/>
                </a:solidFill>
                <a:latin typeface="Archivo Black"/>
                <a:ea typeface="Archivo Black"/>
                <a:cs typeface="Archivo Black"/>
                <a:sym typeface="Archivo Black"/>
              </a:rPr>
              <a:t>Data Cleaning Process</a:t>
            </a:r>
          </a:p>
        </p:txBody>
      </p:sp>
      <p:sp>
        <p:nvSpPr>
          <p:cNvPr id="9" name="TextBox 9"/>
          <p:cNvSpPr txBox="1"/>
          <p:nvPr/>
        </p:nvSpPr>
        <p:spPr>
          <a:xfrm>
            <a:off x="10010684" y="1459890"/>
            <a:ext cx="7042906" cy="1128226"/>
          </a:xfrm>
          <a:prstGeom prst="rect">
            <a:avLst/>
          </a:prstGeom>
        </p:spPr>
        <p:txBody>
          <a:bodyPr lIns="0" tIns="0" rIns="0" bIns="0" rtlCol="0" anchor="t">
            <a:spAutoFit/>
          </a:bodyPr>
          <a:lstStyle/>
          <a:p>
            <a:pPr algn="l">
              <a:lnSpc>
                <a:spcPts val="1864"/>
              </a:lnSpc>
            </a:pPr>
            <a:r>
              <a:rPr lang="en-US" sz="1331" dirty="0">
                <a:solidFill>
                  <a:srgbClr val="000000"/>
                </a:solidFill>
                <a:latin typeface="Garet"/>
                <a:ea typeface="Garet"/>
                <a:cs typeface="Garet"/>
                <a:sym typeface="Garet"/>
              </a:rPr>
              <a:t>The dataset used for this project is the Superstore sales dataset, consisting of approximately 9,995 rows and 13 columns. It contains detailed sales transaction information, including Order Date, Ship Date, Sales, Profit, Discount, Quantity, Product details, Region, and Category, providing a comprehensive view of the store’s sales performance.</a:t>
            </a:r>
          </a:p>
        </p:txBody>
      </p:sp>
      <p:sp>
        <p:nvSpPr>
          <p:cNvPr id="10" name="TextBox 10"/>
          <p:cNvSpPr txBox="1"/>
          <p:nvPr/>
        </p:nvSpPr>
        <p:spPr>
          <a:xfrm>
            <a:off x="10010684" y="960145"/>
            <a:ext cx="4267409" cy="375920"/>
          </a:xfrm>
          <a:prstGeom prst="rect">
            <a:avLst/>
          </a:prstGeom>
        </p:spPr>
        <p:txBody>
          <a:bodyPr lIns="0" tIns="0" rIns="0" bIns="0" rtlCol="0" anchor="t">
            <a:spAutoFit/>
          </a:bodyPr>
          <a:lstStyle/>
          <a:p>
            <a:pPr marL="0" lvl="0" indent="0" algn="l">
              <a:lnSpc>
                <a:spcPts val="2799"/>
              </a:lnSpc>
              <a:spcBef>
                <a:spcPct val="0"/>
              </a:spcBef>
            </a:pPr>
            <a:r>
              <a:rPr lang="en-US" sz="2799" spc="-221" dirty="0">
                <a:solidFill>
                  <a:srgbClr val="000000"/>
                </a:solidFill>
                <a:latin typeface="Archivo Black"/>
                <a:ea typeface="Archivo Black"/>
                <a:cs typeface="Archivo Black"/>
                <a:sym typeface="Archivo Black"/>
              </a:rPr>
              <a:t>Dataset Overview </a:t>
            </a:r>
          </a:p>
        </p:txBody>
      </p:sp>
      <p:sp>
        <p:nvSpPr>
          <p:cNvPr id="11" name="TextBox 11"/>
          <p:cNvSpPr txBox="1"/>
          <p:nvPr/>
        </p:nvSpPr>
        <p:spPr>
          <a:xfrm>
            <a:off x="976397" y="970261"/>
            <a:ext cx="7042906" cy="236603"/>
          </a:xfrm>
          <a:prstGeom prst="rect">
            <a:avLst/>
          </a:prstGeom>
        </p:spPr>
        <p:txBody>
          <a:bodyPr lIns="0" tIns="0" rIns="0" bIns="0" rtlCol="0" anchor="t">
            <a:spAutoFit/>
          </a:bodyPr>
          <a:lstStyle/>
          <a:p>
            <a:pPr algn="l">
              <a:lnSpc>
                <a:spcPts val="1864"/>
              </a:lnSpc>
            </a:pPr>
            <a:r>
              <a:rPr lang="en-US" sz="1400" b="1" dirty="0">
                <a:solidFill>
                  <a:srgbClr val="000000"/>
                </a:solidFill>
                <a:latin typeface="Garet"/>
                <a:ea typeface="Garet"/>
                <a:cs typeface="Garet"/>
                <a:sym typeface="Garet"/>
              </a:rPr>
              <a:t>Dataset Before Data Cleaning Process:</a:t>
            </a:r>
          </a:p>
        </p:txBody>
      </p:sp>
      <p:sp>
        <p:nvSpPr>
          <p:cNvPr id="12" name="TextBox 12"/>
          <p:cNvSpPr txBox="1"/>
          <p:nvPr/>
        </p:nvSpPr>
        <p:spPr>
          <a:xfrm>
            <a:off x="1028700" y="4933794"/>
            <a:ext cx="7042906" cy="236603"/>
          </a:xfrm>
          <a:prstGeom prst="rect">
            <a:avLst/>
          </a:prstGeom>
        </p:spPr>
        <p:txBody>
          <a:bodyPr lIns="0" tIns="0" rIns="0" bIns="0" rtlCol="0" anchor="t">
            <a:spAutoFit/>
          </a:bodyPr>
          <a:lstStyle/>
          <a:p>
            <a:pPr algn="l">
              <a:lnSpc>
                <a:spcPts val="1864"/>
              </a:lnSpc>
            </a:pPr>
            <a:r>
              <a:rPr lang="en-US" sz="1400" b="1" dirty="0">
                <a:solidFill>
                  <a:srgbClr val="000000"/>
                </a:solidFill>
                <a:latin typeface="Garet"/>
                <a:ea typeface="Garet"/>
                <a:cs typeface="Garet"/>
                <a:sym typeface="Garet"/>
              </a:rPr>
              <a:t>Dataset After Data Cleaning Process:</a:t>
            </a:r>
          </a:p>
        </p:txBody>
      </p:sp>
      <p:sp>
        <p:nvSpPr>
          <p:cNvPr id="13" name="TextBox 13"/>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03/10</a:t>
            </a:r>
          </a:p>
        </p:txBody>
      </p:sp>
      <p:pic>
        <p:nvPicPr>
          <p:cNvPr id="15" name="Picture 14">
            <a:extLst>
              <a:ext uri="{FF2B5EF4-FFF2-40B4-BE49-F238E27FC236}">
                <a16:creationId xmlns:a16="http://schemas.microsoft.com/office/drawing/2014/main" id="{BCAE4E53-FAE1-EFE1-4E07-447DFA3C2D81}"/>
              </a:ext>
            </a:extLst>
          </p:cNvPr>
          <p:cNvPicPr>
            <a:picLocks noChangeAspect="1"/>
          </p:cNvPicPr>
          <p:nvPr/>
        </p:nvPicPr>
        <p:blipFill>
          <a:blip r:embed="rId3"/>
          <a:stretch>
            <a:fillRect/>
          </a:stretch>
        </p:blipFill>
        <p:spPr>
          <a:xfrm>
            <a:off x="976397" y="1259857"/>
            <a:ext cx="8624803" cy="3502643"/>
          </a:xfrm>
          <a:prstGeom prst="rect">
            <a:avLst/>
          </a:prstGeom>
        </p:spPr>
      </p:pic>
      <p:pic>
        <p:nvPicPr>
          <p:cNvPr id="19" name="Picture 18">
            <a:extLst>
              <a:ext uri="{FF2B5EF4-FFF2-40B4-BE49-F238E27FC236}">
                <a16:creationId xmlns:a16="http://schemas.microsoft.com/office/drawing/2014/main" id="{BCA7F64B-F72B-A344-2536-CBB6AEC8B4A1}"/>
              </a:ext>
            </a:extLst>
          </p:cNvPr>
          <p:cNvPicPr>
            <a:picLocks noChangeAspect="1"/>
          </p:cNvPicPr>
          <p:nvPr/>
        </p:nvPicPr>
        <p:blipFill>
          <a:blip r:embed="rId4"/>
          <a:stretch>
            <a:fillRect/>
          </a:stretch>
        </p:blipFill>
        <p:spPr>
          <a:xfrm>
            <a:off x="1028698" y="5219700"/>
            <a:ext cx="8572501" cy="3124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sp>
      <p:sp>
        <p:nvSpPr>
          <p:cNvPr id="3" name="TextBox 3"/>
          <p:cNvSpPr txBox="1"/>
          <p:nvPr/>
        </p:nvSpPr>
        <p:spPr>
          <a:xfrm>
            <a:off x="1028700" y="2245910"/>
            <a:ext cx="10974078" cy="6127575"/>
          </a:xfrm>
          <a:prstGeom prst="rect">
            <a:avLst/>
          </a:prstGeom>
        </p:spPr>
        <p:txBody>
          <a:bodyPr lIns="0" tIns="0" rIns="0" bIns="0" rtlCol="0" anchor="t">
            <a:spAutoFit/>
          </a:bodyPr>
          <a:lstStyle/>
          <a:p>
            <a:pPr marL="541236" lvl="1" indent="-270618" algn="just">
              <a:lnSpc>
                <a:spcPts val="3509"/>
              </a:lnSpc>
              <a:buFont typeface="Arial"/>
              <a:buChar char="•"/>
            </a:pPr>
            <a:r>
              <a:rPr lang="en-US" sz="2506">
                <a:solidFill>
                  <a:srgbClr val="000000"/>
                </a:solidFill>
                <a:latin typeface="Garet"/>
                <a:ea typeface="Garet"/>
                <a:cs typeface="Garet"/>
                <a:sym typeface="Garet"/>
              </a:rPr>
              <a:t>Adjusted Sales = Total Sales − Discount Amount</a:t>
            </a:r>
          </a:p>
          <a:p>
            <a:pPr algn="just">
              <a:lnSpc>
                <a:spcPts val="3509"/>
              </a:lnSpc>
            </a:pPr>
            <a:endParaRPr lang="en-US" sz="2506">
              <a:solidFill>
                <a:srgbClr val="000000"/>
              </a:solidFill>
              <a:latin typeface="Garet"/>
              <a:ea typeface="Garet"/>
              <a:cs typeface="Garet"/>
              <a:sym typeface="Garet"/>
            </a:endParaRPr>
          </a:p>
          <a:p>
            <a:pPr algn="just">
              <a:lnSpc>
                <a:spcPts val="3509"/>
              </a:lnSpc>
            </a:pPr>
            <a:endParaRPr lang="en-US" sz="2506">
              <a:solidFill>
                <a:srgbClr val="000000"/>
              </a:solidFill>
              <a:latin typeface="Garet"/>
              <a:ea typeface="Garet"/>
              <a:cs typeface="Garet"/>
              <a:sym typeface="Garet"/>
            </a:endParaRPr>
          </a:p>
          <a:p>
            <a:pPr marL="541236" lvl="1" indent="-270618" algn="just">
              <a:lnSpc>
                <a:spcPts val="3509"/>
              </a:lnSpc>
              <a:buFont typeface="Arial"/>
              <a:buChar char="•"/>
            </a:pPr>
            <a:r>
              <a:rPr lang="en-US" sz="2506">
                <a:solidFill>
                  <a:srgbClr val="000000"/>
                </a:solidFill>
                <a:latin typeface="Garet"/>
                <a:ea typeface="Garet"/>
                <a:cs typeface="Garet"/>
                <a:sym typeface="Garet"/>
              </a:rPr>
              <a:t>Total Sales = Sales × Quantity</a:t>
            </a:r>
          </a:p>
          <a:p>
            <a:pPr algn="just">
              <a:lnSpc>
                <a:spcPts val="3509"/>
              </a:lnSpc>
            </a:pPr>
            <a:endParaRPr lang="en-US" sz="2506">
              <a:solidFill>
                <a:srgbClr val="000000"/>
              </a:solidFill>
              <a:latin typeface="Garet"/>
              <a:ea typeface="Garet"/>
              <a:cs typeface="Garet"/>
              <a:sym typeface="Garet"/>
            </a:endParaRPr>
          </a:p>
          <a:p>
            <a:pPr algn="just">
              <a:lnSpc>
                <a:spcPts val="3509"/>
              </a:lnSpc>
            </a:pPr>
            <a:endParaRPr lang="en-US" sz="2506">
              <a:solidFill>
                <a:srgbClr val="000000"/>
              </a:solidFill>
              <a:latin typeface="Garet"/>
              <a:ea typeface="Garet"/>
              <a:cs typeface="Garet"/>
              <a:sym typeface="Garet"/>
            </a:endParaRPr>
          </a:p>
          <a:p>
            <a:pPr marL="541236" lvl="1" indent="-270618" algn="just">
              <a:lnSpc>
                <a:spcPts val="3509"/>
              </a:lnSpc>
              <a:buFont typeface="Arial"/>
              <a:buChar char="•"/>
            </a:pPr>
            <a:r>
              <a:rPr lang="en-US" sz="2506">
                <a:solidFill>
                  <a:srgbClr val="000000"/>
                </a:solidFill>
                <a:latin typeface="Garet"/>
                <a:ea typeface="Garet"/>
                <a:cs typeface="Garet"/>
                <a:sym typeface="Garet"/>
              </a:rPr>
              <a:t>Discount Amount = Total Sales × Discount Rate</a:t>
            </a:r>
          </a:p>
          <a:p>
            <a:pPr algn="just">
              <a:lnSpc>
                <a:spcPts val="3509"/>
              </a:lnSpc>
            </a:pPr>
            <a:endParaRPr lang="en-US" sz="2506">
              <a:solidFill>
                <a:srgbClr val="000000"/>
              </a:solidFill>
              <a:latin typeface="Garet"/>
              <a:ea typeface="Garet"/>
              <a:cs typeface="Garet"/>
              <a:sym typeface="Garet"/>
            </a:endParaRPr>
          </a:p>
          <a:p>
            <a:pPr algn="just">
              <a:lnSpc>
                <a:spcPts val="3509"/>
              </a:lnSpc>
            </a:pPr>
            <a:endParaRPr lang="en-US" sz="2506">
              <a:solidFill>
                <a:srgbClr val="000000"/>
              </a:solidFill>
              <a:latin typeface="Garet"/>
              <a:ea typeface="Garet"/>
              <a:cs typeface="Garet"/>
              <a:sym typeface="Garet"/>
            </a:endParaRPr>
          </a:p>
          <a:p>
            <a:pPr marL="541236" lvl="1" indent="-270618" algn="just">
              <a:lnSpc>
                <a:spcPts val="3509"/>
              </a:lnSpc>
              <a:buFont typeface="Arial"/>
              <a:buChar char="•"/>
            </a:pPr>
            <a:r>
              <a:rPr lang="en-US" sz="2506">
                <a:solidFill>
                  <a:srgbClr val="000000"/>
                </a:solidFill>
                <a:latin typeface="Garet"/>
                <a:ea typeface="Garet"/>
                <a:cs typeface="Garet"/>
                <a:sym typeface="Garet"/>
              </a:rPr>
              <a:t>Total Revenue = Sum(Adjusted Sales Column)</a:t>
            </a:r>
          </a:p>
          <a:p>
            <a:pPr algn="just">
              <a:lnSpc>
                <a:spcPts val="3509"/>
              </a:lnSpc>
            </a:pPr>
            <a:endParaRPr lang="en-US" sz="2506">
              <a:solidFill>
                <a:srgbClr val="000000"/>
              </a:solidFill>
              <a:latin typeface="Garet"/>
              <a:ea typeface="Garet"/>
              <a:cs typeface="Garet"/>
              <a:sym typeface="Garet"/>
            </a:endParaRPr>
          </a:p>
          <a:p>
            <a:pPr marL="541236" lvl="1" indent="-270618" algn="just">
              <a:lnSpc>
                <a:spcPts val="3509"/>
              </a:lnSpc>
              <a:buFont typeface="Arial"/>
              <a:buChar char="•"/>
            </a:pPr>
            <a:r>
              <a:rPr lang="en-US" sz="2506">
                <a:solidFill>
                  <a:srgbClr val="000000"/>
                </a:solidFill>
                <a:latin typeface="Garet"/>
                <a:ea typeface="Garet"/>
                <a:cs typeface="Garet"/>
                <a:sym typeface="Garet"/>
              </a:rPr>
              <a:t>Average Order Value = AVERAGE(Adjusted Sales Column)</a:t>
            </a:r>
          </a:p>
          <a:p>
            <a:pPr algn="just">
              <a:lnSpc>
                <a:spcPts val="3509"/>
              </a:lnSpc>
            </a:pPr>
            <a:endParaRPr lang="en-US" sz="2506">
              <a:solidFill>
                <a:srgbClr val="000000"/>
              </a:solidFill>
              <a:latin typeface="Garet"/>
              <a:ea typeface="Garet"/>
              <a:cs typeface="Garet"/>
              <a:sym typeface="Garet"/>
            </a:endParaRPr>
          </a:p>
          <a:p>
            <a:pPr marL="541236" lvl="1" indent="-270618" algn="just">
              <a:lnSpc>
                <a:spcPts val="3509"/>
              </a:lnSpc>
              <a:buFont typeface="Arial"/>
              <a:buChar char="•"/>
            </a:pPr>
            <a:r>
              <a:rPr lang="en-US" sz="2506">
                <a:solidFill>
                  <a:srgbClr val="000000"/>
                </a:solidFill>
                <a:latin typeface="Garet"/>
                <a:ea typeface="Garet"/>
                <a:cs typeface="Garet"/>
                <a:sym typeface="Garet"/>
              </a:rPr>
              <a:t>Total Discount Amount = Sum(Discount Amount Column)</a:t>
            </a:r>
          </a:p>
        </p:txBody>
      </p:sp>
      <p:sp>
        <p:nvSpPr>
          <p:cNvPr id="4" name="Freeform 4"/>
          <p:cNvSpPr/>
          <p:nvPr/>
        </p:nvSpPr>
        <p:spPr>
          <a:xfrm>
            <a:off x="1890098" y="2717014"/>
            <a:ext cx="6264437" cy="747181"/>
          </a:xfrm>
          <a:custGeom>
            <a:avLst/>
            <a:gdLst/>
            <a:ahLst/>
            <a:cxnLst/>
            <a:rect l="l" t="t" r="r" b="b"/>
            <a:pathLst>
              <a:path w="6264437" h="747181">
                <a:moveTo>
                  <a:pt x="0" y="0"/>
                </a:moveTo>
                <a:lnTo>
                  <a:pt x="6264438" y="0"/>
                </a:lnTo>
                <a:lnTo>
                  <a:pt x="6264438" y="747181"/>
                </a:lnTo>
                <a:lnTo>
                  <a:pt x="0" y="747181"/>
                </a:lnTo>
                <a:lnTo>
                  <a:pt x="0" y="0"/>
                </a:lnTo>
                <a:close/>
              </a:path>
            </a:pathLst>
          </a:custGeom>
          <a:blipFill>
            <a:blip r:embed="rId4"/>
            <a:stretch>
              <a:fillRect r="-49290"/>
            </a:stretch>
          </a:blipFill>
        </p:spPr>
      </p:sp>
      <p:sp>
        <p:nvSpPr>
          <p:cNvPr id="5" name="Freeform 5"/>
          <p:cNvSpPr/>
          <p:nvPr/>
        </p:nvSpPr>
        <p:spPr>
          <a:xfrm>
            <a:off x="1890098" y="4121420"/>
            <a:ext cx="6264437" cy="717683"/>
          </a:xfrm>
          <a:custGeom>
            <a:avLst/>
            <a:gdLst/>
            <a:ahLst/>
            <a:cxnLst/>
            <a:rect l="l" t="t" r="r" b="b"/>
            <a:pathLst>
              <a:path w="6264437" h="717683">
                <a:moveTo>
                  <a:pt x="0" y="0"/>
                </a:moveTo>
                <a:lnTo>
                  <a:pt x="6264438" y="0"/>
                </a:lnTo>
                <a:lnTo>
                  <a:pt x="6264438" y="717683"/>
                </a:lnTo>
                <a:lnTo>
                  <a:pt x="0" y="717683"/>
                </a:lnTo>
                <a:lnTo>
                  <a:pt x="0" y="0"/>
                </a:lnTo>
                <a:close/>
              </a:path>
            </a:pathLst>
          </a:custGeom>
          <a:blipFill>
            <a:blip r:embed="rId5"/>
            <a:stretch>
              <a:fillRect r="-14348"/>
            </a:stretch>
          </a:blipFill>
        </p:spPr>
      </p:sp>
      <p:sp>
        <p:nvSpPr>
          <p:cNvPr id="6" name="Freeform 6"/>
          <p:cNvSpPr/>
          <p:nvPr/>
        </p:nvSpPr>
        <p:spPr>
          <a:xfrm>
            <a:off x="1890098" y="5496328"/>
            <a:ext cx="6264437" cy="682686"/>
          </a:xfrm>
          <a:custGeom>
            <a:avLst/>
            <a:gdLst/>
            <a:ahLst/>
            <a:cxnLst/>
            <a:rect l="l" t="t" r="r" b="b"/>
            <a:pathLst>
              <a:path w="6264437" h="682686">
                <a:moveTo>
                  <a:pt x="0" y="0"/>
                </a:moveTo>
                <a:lnTo>
                  <a:pt x="6264438" y="0"/>
                </a:lnTo>
                <a:lnTo>
                  <a:pt x="6264438" y="682686"/>
                </a:lnTo>
                <a:lnTo>
                  <a:pt x="0" y="682686"/>
                </a:lnTo>
                <a:lnTo>
                  <a:pt x="0" y="0"/>
                </a:lnTo>
                <a:close/>
              </a:path>
            </a:pathLst>
          </a:custGeom>
          <a:blipFill>
            <a:blip r:embed="rId6"/>
            <a:stretch>
              <a:fillRect r="-85494"/>
            </a:stretch>
          </a:blipFill>
        </p:spPr>
      </p:sp>
      <p:sp>
        <p:nvSpPr>
          <p:cNvPr id="7" name="Freeform 7"/>
          <p:cNvSpPr/>
          <p:nvPr/>
        </p:nvSpPr>
        <p:spPr>
          <a:xfrm>
            <a:off x="1890098" y="7680105"/>
            <a:ext cx="8191806" cy="235514"/>
          </a:xfrm>
          <a:custGeom>
            <a:avLst/>
            <a:gdLst/>
            <a:ahLst/>
            <a:cxnLst/>
            <a:rect l="l" t="t" r="r" b="b"/>
            <a:pathLst>
              <a:path w="8191806" h="235514">
                <a:moveTo>
                  <a:pt x="0" y="0"/>
                </a:moveTo>
                <a:lnTo>
                  <a:pt x="8191806" y="0"/>
                </a:lnTo>
                <a:lnTo>
                  <a:pt x="8191806" y="235514"/>
                </a:lnTo>
                <a:lnTo>
                  <a:pt x="0" y="235514"/>
                </a:lnTo>
                <a:lnTo>
                  <a:pt x="0" y="0"/>
                </a:lnTo>
                <a:close/>
              </a:path>
            </a:pathLst>
          </a:custGeom>
          <a:blipFill>
            <a:blip r:embed="rId7"/>
            <a:stretch>
              <a:fillRect/>
            </a:stretch>
          </a:blipFill>
        </p:spPr>
      </p:sp>
      <p:sp>
        <p:nvSpPr>
          <p:cNvPr id="8" name="Freeform 8"/>
          <p:cNvSpPr/>
          <p:nvPr/>
        </p:nvSpPr>
        <p:spPr>
          <a:xfrm>
            <a:off x="1890098" y="6703257"/>
            <a:ext cx="8191806" cy="319622"/>
          </a:xfrm>
          <a:custGeom>
            <a:avLst/>
            <a:gdLst/>
            <a:ahLst/>
            <a:cxnLst/>
            <a:rect l="l" t="t" r="r" b="b"/>
            <a:pathLst>
              <a:path w="8191806" h="319622">
                <a:moveTo>
                  <a:pt x="0" y="0"/>
                </a:moveTo>
                <a:lnTo>
                  <a:pt x="8191806" y="0"/>
                </a:lnTo>
                <a:lnTo>
                  <a:pt x="8191806" y="319623"/>
                </a:lnTo>
                <a:lnTo>
                  <a:pt x="0" y="319623"/>
                </a:lnTo>
                <a:lnTo>
                  <a:pt x="0" y="0"/>
                </a:lnTo>
                <a:close/>
              </a:path>
            </a:pathLst>
          </a:custGeom>
          <a:blipFill>
            <a:blip r:embed="rId8"/>
            <a:stretch>
              <a:fillRect/>
            </a:stretch>
          </a:blipFill>
        </p:spPr>
      </p:sp>
      <p:sp>
        <p:nvSpPr>
          <p:cNvPr id="9" name="Freeform 9"/>
          <p:cNvSpPr/>
          <p:nvPr/>
        </p:nvSpPr>
        <p:spPr>
          <a:xfrm>
            <a:off x="1890098" y="8504228"/>
            <a:ext cx="8191806" cy="311959"/>
          </a:xfrm>
          <a:custGeom>
            <a:avLst/>
            <a:gdLst/>
            <a:ahLst/>
            <a:cxnLst/>
            <a:rect l="l" t="t" r="r" b="b"/>
            <a:pathLst>
              <a:path w="8191806" h="311959">
                <a:moveTo>
                  <a:pt x="0" y="0"/>
                </a:moveTo>
                <a:lnTo>
                  <a:pt x="8191806" y="0"/>
                </a:lnTo>
                <a:lnTo>
                  <a:pt x="8191806" y="311959"/>
                </a:lnTo>
                <a:lnTo>
                  <a:pt x="0" y="311959"/>
                </a:lnTo>
                <a:lnTo>
                  <a:pt x="0" y="0"/>
                </a:lnTo>
                <a:close/>
              </a:path>
            </a:pathLst>
          </a:custGeom>
          <a:blipFill>
            <a:blip r:embed="rId9"/>
            <a:stretch>
              <a:fillRect/>
            </a:stretch>
          </a:blipFill>
        </p:spPr>
      </p:sp>
      <p:sp>
        <p:nvSpPr>
          <p:cNvPr id="10" name="Freeform 10"/>
          <p:cNvSpPr/>
          <p:nvPr/>
        </p:nvSpPr>
        <p:spPr>
          <a:xfrm>
            <a:off x="11710245" y="4121420"/>
            <a:ext cx="4805537" cy="564081"/>
          </a:xfrm>
          <a:custGeom>
            <a:avLst/>
            <a:gdLst/>
            <a:ahLst/>
            <a:cxnLst/>
            <a:rect l="l" t="t" r="r" b="b"/>
            <a:pathLst>
              <a:path w="4805537" h="564081">
                <a:moveTo>
                  <a:pt x="0" y="0"/>
                </a:moveTo>
                <a:lnTo>
                  <a:pt x="4805537" y="0"/>
                </a:lnTo>
                <a:lnTo>
                  <a:pt x="4805537" y="564081"/>
                </a:lnTo>
                <a:lnTo>
                  <a:pt x="0" y="564081"/>
                </a:lnTo>
                <a:lnTo>
                  <a:pt x="0" y="0"/>
                </a:lnTo>
                <a:close/>
              </a:path>
            </a:pathLst>
          </a:custGeom>
          <a:blipFill>
            <a:blip r:embed="rId10"/>
            <a:stretch>
              <a:fillRect/>
            </a:stretch>
          </a:blipFill>
        </p:spPr>
      </p:sp>
      <p:sp>
        <p:nvSpPr>
          <p:cNvPr id="11" name="Freeform 11"/>
          <p:cNvSpPr/>
          <p:nvPr/>
        </p:nvSpPr>
        <p:spPr>
          <a:xfrm>
            <a:off x="10983896" y="5325657"/>
            <a:ext cx="6645945" cy="512014"/>
          </a:xfrm>
          <a:custGeom>
            <a:avLst/>
            <a:gdLst/>
            <a:ahLst/>
            <a:cxnLst/>
            <a:rect l="l" t="t" r="r" b="b"/>
            <a:pathLst>
              <a:path w="6645945" h="512014">
                <a:moveTo>
                  <a:pt x="0" y="0"/>
                </a:moveTo>
                <a:lnTo>
                  <a:pt x="6645945" y="0"/>
                </a:lnTo>
                <a:lnTo>
                  <a:pt x="6645945" y="512014"/>
                </a:lnTo>
                <a:lnTo>
                  <a:pt x="0" y="512014"/>
                </a:lnTo>
                <a:lnTo>
                  <a:pt x="0" y="0"/>
                </a:lnTo>
                <a:close/>
              </a:path>
            </a:pathLst>
          </a:custGeom>
          <a:blipFill>
            <a:blip r:embed="rId11"/>
            <a:stretch>
              <a:fillRect/>
            </a:stretch>
          </a:blipFill>
        </p:spPr>
      </p:sp>
      <p:sp>
        <p:nvSpPr>
          <p:cNvPr id="12" name="TextBox 12"/>
          <p:cNvSpPr txBox="1"/>
          <p:nvPr/>
        </p:nvSpPr>
        <p:spPr>
          <a:xfrm>
            <a:off x="1028700" y="1097398"/>
            <a:ext cx="16042461" cy="797769"/>
          </a:xfrm>
          <a:prstGeom prst="rect">
            <a:avLst/>
          </a:prstGeom>
        </p:spPr>
        <p:txBody>
          <a:bodyPr lIns="0" tIns="0" rIns="0" bIns="0" rtlCol="0" anchor="t">
            <a:spAutoFit/>
          </a:bodyPr>
          <a:lstStyle/>
          <a:p>
            <a:pPr marL="0" lvl="0" indent="0" algn="just">
              <a:lnSpc>
                <a:spcPts val="5908"/>
              </a:lnSpc>
              <a:spcBef>
                <a:spcPct val="0"/>
              </a:spcBef>
            </a:pPr>
            <a:r>
              <a:rPr lang="en-US" sz="5908" spc="-466">
                <a:solidFill>
                  <a:srgbClr val="000000"/>
                </a:solidFill>
                <a:latin typeface="Archivo Black"/>
                <a:ea typeface="Archivo Black"/>
                <a:cs typeface="Archivo Black"/>
                <a:sym typeface="Archivo Black"/>
              </a:rPr>
              <a:t>Metrics Calculated</a:t>
            </a:r>
          </a:p>
        </p:txBody>
      </p:sp>
      <p:sp>
        <p:nvSpPr>
          <p:cNvPr id="13" name="TextBox 13"/>
          <p:cNvSpPr txBox="1"/>
          <p:nvPr/>
        </p:nvSpPr>
        <p:spPr>
          <a:xfrm>
            <a:off x="10291823" y="2264960"/>
            <a:ext cx="7642381" cy="2072982"/>
          </a:xfrm>
          <a:prstGeom prst="rect">
            <a:avLst/>
          </a:prstGeom>
        </p:spPr>
        <p:txBody>
          <a:bodyPr lIns="0" tIns="0" rIns="0" bIns="0" rtlCol="0" anchor="t">
            <a:spAutoFit/>
          </a:bodyPr>
          <a:lstStyle/>
          <a:p>
            <a:pPr marL="515253" lvl="1" indent="-257627" algn="l">
              <a:lnSpc>
                <a:spcPts val="3341"/>
              </a:lnSpc>
              <a:buFont typeface="Arial"/>
              <a:buChar char="•"/>
            </a:pPr>
            <a:r>
              <a:rPr lang="en-US" sz="2386">
                <a:solidFill>
                  <a:srgbClr val="000000"/>
                </a:solidFill>
                <a:latin typeface="Garet"/>
                <a:ea typeface="Garet"/>
                <a:cs typeface="Garet"/>
                <a:sym typeface="Garet"/>
              </a:rPr>
              <a:t>Sales by Product Type:  I used the UNIQUE function to list distinct categories and the COUNTIF function to count the total orders for each category.</a:t>
            </a:r>
          </a:p>
          <a:p>
            <a:pPr algn="just">
              <a:lnSpc>
                <a:spcPts val="3341"/>
              </a:lnSpc>
              <a:spcBef>
                <a:spcPct val="0"/>
              </a:spcBef>
            </a:pPr>
            <a:endParaRPr lang="en-US" sz="2386">
              <a:solidFill>
                <a:srgbClr val="000000"/>
              </a:solidFill>
              <a:latin typeface="Garet"/>
              <a:ea typeface="Garet"/>
              <a:cs typeface="Garet"/>
              <a:sym typeface="Garet"/>
            </a:endParaRPr>
          </a:p>
        </p:txBody>
      </p:sp>
      <p:sp>
        <p:nvSpPr>
          <p:cNvPr id="14" name="TextBox 14"/>
          <p:cNvSpPr txBox="1"/>
          <p:nvPr/>
        </p:nvSpPr>
        <p:spPr>
          <a:xfrm>
            <a:off x="10291823" y="4791655"/>
            <a:ext cx="7642381" cy="257175"/>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Garet"/>
                <a:ea typeface="Garet"/>
                <a:cs typeface="Garet"/>
                <a:sym typeface="Garet"/>
              </a:rPr>
              <a:t>UNIQUE function to list all the distinct product categories in Cell AF7</a:t>
            </a:r>
          </a:p>
        </p:txBody>
      </p:sp>
      <p:sp>
        <p:nvSpPr>
          <p:cNvPr id="15" name="TextBox 15"/>
          <p:cNvSpPr txBox="1"/>
          <p:nvPr/>
        </p:nvSpPr>
        <p:spPr>
          <a:xfrm>
            <a:off x="10320398" y="5902789"/>
            <a:ext cx="7642381" cy="257175"/>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Garet"/>
                <a:ea typeface="Garet"/>
                <a:cs typeface="Garet"/>
                <a:sym typeface="Garet"/>
              </a:rPr>
              <a:t>COUNTIF function to count the total number of orders for each category</a:t>
            </a:r>
          </a:p>
        </p:txBody>
      </p:sp>
      <p:sp>
        <p:nvSpPr>
          <p:cNvPr id="16" name="TextBox 16"/>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04/10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sp>
      <p:sp>
        <p:nvSpPr>
          <p:cNvPr id="3" name="Freeform 3"/>
          <p:cNvSpPr/>
          <p:nvPr/>
        </p:nvSpPr>
        <p:spPr>
          <a:xfrm>
            <a:off x="14166500" y="2502347"/>
            <a:ext cx="3413189" cy="1781294"/>
          </a:xfrm>
          <a:custGeom>
            <a:avLst/>
            <a:gdLst/>
            <a:ahLst/>
            <a:cxnLst/>
            <a:rect l="l" t="t" r="r" b="b"/>
            <a:pathLst>
              <a:path w="3413189" h="1781294">
                <a:moveTo>
                  <a:pt x="0" y="0"/>
                </a:moveTo>
                <a:lnTo>
                  <a:pt x="3413189" y="0"/>
                </a:lnTo>
                <a:lnTo>
                  <a:pt x="3413189" y="1781294"/>
                </a:lnTo>
                <a:lnTo>
                  <a:pt x="0" y="1781294"/>
                </a:lnTo>
                <a:lnTo>
                  <a:pt x="0" y="0"/>
                </a:lnTo>
                <a:close/>
              </a:path>
            </a:pathLst>
          </a:custGeom>
          <a:blipFill>
            <a:blip r:embed="rId4"/>
            <a:stretch>
              <a:fillRect/>
            </a:stretch>
          </a:blipFill>
        </p:spPr>
      </p:sp>
      <p:sp>
        <p:nvSpPr>
          <p:cNvPr id="4" name="Freeform 4"/>
          <p:cNvSpPr/>
          <p:nvPr/>
        </p:nvSpPr>
        <p:spPr>
          <a:xfrm>
            <a:off x="1200689" y="6858313"/>
            <a:ext cx="2865928" cy="1951990"/>
          </a:xfrm>
          <a:custGeom>
            <a:avLst/>
            <a:gdLst/>
            <a:ahLst/>
            <a:cxnLst/>
            <a:rect l="l" t="t" r="r" b="b"/>
            <a:pathLst>
              <a:path w="2865928" h="1951990">
                <a:moveTo>
                  <a:pt x="0" y="0"/>
                </a:moveTo>
                <a:lnTo>
                  <a:pt x="2865927" y="0"/>
                </a:lnTo>
                <a:lnTo>
                  <a:pt x="2865927" y="1951990"/>
                </a:lnTo>
                <a:lnTo>
                  <a:pt x="0" y="1951990"/>
                </a:lnTo>
                <a:lnTo>
                  <a:pt x="0" y="0"/>
                </a:lnTo>
                <a:close/>
              </a:path>
            </a:pathLst>
          </a:custGeom>
          <a:blipFill>
            <a:blip r:embed="rId5"/>
            <a:stretch>
              <a:fillRect/>
            </a:stretch>
          </a:blipFill>
        </p:spPr>
      </p:sp>
      <p:sp>
        <p:nvSpPr>
          <p:cNvPr id="5" name="Freeform 5"/>
          <p:cNvSpPr/>
          <p:nvPr/>
        </p:nvSpPr>
        <p:spPr>
          <a:xfrm>
            <a:off x="1200689" y="4910428"/>
            <a:ext cx="2891737" cy="1808823"/>
          </a:xfrm>
          <a:custGeom>
            <a:avLst/>
            <a:gdLst/>
            <a:ahLst/>
            <a:cxnLst/>
            <a:rect l="l" t="t" r="r" b="b"/>
            <a:pathLst>
              <a:path w="2891737" h="1808823">
                <a:moveTo>
                  <a:pt x="0" y="0"/>
                </a:moveTo>
                <a:lnTo>
                  <a:pt x="2891736" y="0"/>
                </a:lnTo>
                <a:lnTo>
                  <a:pt x="2891736" y="1808823"/>
                </a:lnTo>
                <a:lnTo>
                  <a:pt x="0" y="1808823"/>
                </a:lnTo>
                <a:lnTo>
                  <a:pt x="0" y="0"/>
                </a:lnTo>
                <a:close/>
              </a:path>
            </a:pathLst>
          </a:custGeom>
          <a:blipFill>
            <a:blip r:embed="rId6"/>
            <a:stretch>
              <a:fillRect/>
            </a:stretch>
          </a:blipFill>
        </p:spPr>
      </p:sp>
      <p:sp>
        <p:nvSpPr>
          <p:cNvPr id="6" name="Freeform 6"/>
          <p:cNvSpPr/>
          <p:nvPr/>
        </p:nvSpPr>
        <p:spPr>
          <a:xfrm>
            <a:off x="4354070" y="4905666"/>
            <a:ext cx="13225619" cy="3835430"/>
          </a:xfrm>
          <a:custGeom>
            <a:avLst/>
            <a:gdLst/>
            <a:ahLst/>
            <a:cxnLst/>
            <a:rect l="l" t="t" r="r" b="b"/>
            <a:pathLst>
              <a:path w="13225619" h="3835430">
                <a:moveTo>
                  <a:pt x="0" y="0"/>
                </a:moveTo>
                <a:lnTo>
                  <a:pt x="13225619" y="0"/>
                </a:lnTo>
                <a:lnTo>
                  <a:pt x="13225619" y="3835429"/>
                </a:lnTo>
                <a:lnTo>
                  <a:pt x="0" y="3835429"/>
                </a:lnTo>
                <a:lnTo>
                  <a:pt x="0" y="0"/>
                </a:lnTo>
                <a:close/>
              </a:path>
            </a:pathLst>
          </a:custGeom>
          <a:blipFill>
            <a:blip r:embed="rId7"/>
            <a:stretch>
              <a:fillRect/>
            </a:stretch>
          </a:blipFill>
        </p:spPr>
      </p:sp>
      <p:sp>
        <p:nvSpPr>
          <p:cNvPr id="7" name="TextBox 7"/>
          <p:cNvSpPr txBox="1"/>
          <p:nvPr/>
        </p:nvSpPr>
        <p:spPr>
          <a:xfrm>
            <a:off x="1028700" y="826055"/>
            <a:ext cx="7203393" cy="1519129"/>
          </a:xfrm>
          <a:prstGeom prst="rect">
            <a:avLst/>
          </a:prstGeom>
        </p:spPr>
        <p:txBody>
          <a:bodyPr lIns="0" tIns="0" rIns="0" bIns="0" rtlCol="0" anchor="t">
            <a:spAutoFit/>
          </a:bodyPr>
          <a:lstStyle/>
          <a:p>
            <a:pPr algn="l">
              <a:lnSpc>
                <a:spcPts val="5808"/>
              </a:lnSpc>
            </a:pPr>
            <a:r>
              <a:rPr lang="en-US" sz="5808" spc="-458">
                <a:solidFill>
                  <a:srgbClr val="000000"/>
                </a:solidFill>
                <a:latin typeface="Archivo Black"/>
                <a:ea typeface="Archivo Black"/>
                <a:cs typeface="Archivo Black"/>
                <a:sym typeface="Archivo Black"/>
              </a:rPr>
              <a:t>Pivot Tables and Pivot Charts</a:t>
            </a:r>
          </a:p>
        </p:txBody>
      </p:sp>
      <p:sp>
        <p:nvSpPr>
          <p:cNvPr id="8" name="TextBox 8"/>
          <p:cNvSpPr txBox="1"/>
          <p:nvPr/>
        </p:nvSpPr>
        <p:spPr>
          <a:xfrm>
            <a:off x="919218" y="2473772"/>
            <a:ext cx="13018318" cy="2279494"/>
          </a:xfrm>
          <a:prstGeom prst="rect">
            <a:avLst/>
          </a:prstGeom>
        </p:spPr>
        <p:txBody>
          <a:bodyPr lIns="0" tIns="0" rIns="0" bIns="0" rtlCol="0" anchor="t">
            <a:spAutoFit/>
          </a:bodyPr>
          <a:lstStyle/>
          <a:p>
            <a:pPr marL="404027" lvl="1" indent="-202013" algn="just">
              <a:lnSpc>
                <a:spcPts val="2619"/>
              </a:lnSpc>
              <a:spcBef>
                <a:spcPct val="0"/>
              </a:spcBef>
              <a:buFont typeface="Arial"/>
              <a:buChar char="•"/>
            </a:pPr>
            <a:r>
              <a:rPr lang="en-US" sz="1871">
                <a:solidFill>
                  <a:srgbClr val="000000"/>
                </a:solidFill>
                <a:latin typeface="Garet"/>
                <a:ea typeface="Garet"/>
                <a:cs typeface="Garet"/>
                <a:sym typeface="Garet"/>
              </a:rPr>
              <a:t>Pivot Table Summary: Aggregated sales data by product category, sales channel, and customer segment, showing total and average adjusted sales and discounts.</a:t>
            </a:r>
          </a:p>
          <a:p>
            <a:pPr marL="404027" lvl="1" indent="-202013" algn="just">
              <a:lnSpc>
                <a:spcPts val="2619"/>
              </a:lnSpc>
              <a:spcBef>
                <a:spcPct val="0"/>
              </a:spcBef>
              <a:buFont typeface="Arial"/>
              <a:buChar char="•"/>
            </a:pPr>
            <a:r>
              <a:rPr lang="en-US" sz="1871">
                <a:solidFill>
                  <a:srgbClr val="000000"/>
                </a:solidFill>
                <a:latin typeface="Garet"/>
                <a:ea typeface="Garet"/>
                <a:cs typeface="Garet"/>
                <a:sym typeface="Garet"/>
              </a:rPr>
              <a:t>Time-Based Analysis: Grouped data by year, month, and quarter to identify seasonal trends and peak sales periods.</a:t>
            </a:r>
          </a:p>
          <a:p>
            <a:pPr marL="404027" lvl="1" indent="-202013" algn="just">
              <a:lnSpc>
                <a:spcPts val="2619"/>
              </a:lnSpc>
              <a:spcBef>
                <a:spcPct val="0"/>
              </a:spcBef>
              <a:buFont typeface="Arial"/>
              <a:buChar char="•"/>
            </a:pPr>
            <a:r>
              <a:rPr lang="en-US" sz="1871">
                <a:solidFill>
                  <a:srgbClr val="000000"/>
                </a:solidFill>
                <a:latin typeface="Garet"/>
                <a:ea typeface="Garet"/>
                <a:cs typeface="Garet"/>
                <a:sym typeface="Garet"/>
              </a:rPr>
              <a:t>Pivot Chart Visualizations: Used line, column, and pie charts to visualize trends, highlight high-performing products, effective shipping methods, and recurring patterns.</a:t>
            </a:r>
          </a:p>
          <a:p>
            <a:pPr algn="just">
              <a:lnSpc>
                <a:spcPts val="2619"/>
              </a:lnSpc>
              <a:spcBef>
                <a:spcPct val="0"/>
              </a:spcBef>
            </a:pPr>
            <a:endParaRPr lang="en-US" sz="1871">
              <a:solidFill>
                <a:srgbClr val="000000"/>
              </a:solidFill>
              <a:latin typeface="Garet"/>
              <a:ea typeface="Garet"/>
              <a:cs typeface="Garet"/>
              <a:sym typeface="Garet"/>
            </a:endParaRPr>
          </a:p>
        </p:txBody>
      </p:sp>
      <p:sp>
        <p:nvSpPr>
          <p:cNvPr id="9" name="TextBox 9"/>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05/10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sp>
      <p:sp>
        <p:nvSpPr>
          <p:cNvPr id="3" name="Freeform 3"/>
          <p:cNvSpPr/>
          <p:nvPr/>
        </p:nvSpPr>
        <p:spPr>
          <a:xfrm>
            <a:off x="1593945" y="5233833"/>
            <a:ext cx="15138492" cy="4219855"/>
          </a:xfrm>
          <a:custGeom>
            <a:avLst/>
            <a:gdLst/>
            <a:ahLst/>
            <a:cxnLst/>
            <a:rect l="l" t="t" r="r" b="b"/>
            <a:pathLst>
              <a:path w="15138492" h="4219855">
                <a:moveTo>
                  <a:pt x="0" y="0"/>
                </a:moveTo>
                <a:lnTo>
                  <a:pt x="15138492" y="0"/>
                </a:lnTo>
                <a:lnTo>
                  <a:pt x="15138492" y="4219854"/>
                </a:lnTo>
                <a:lnTo>
                  <a:pt x="0" y="4219854"/>
                </a:lnTo>
                <a:lnTo>
                  <a:pt x="0" y="0"/>
                </a:lnTo>
                <a:close/>
              </a:path>
            </a:pathLst>
          </a:custGeom>
          <a:blipFill>
            <a:blip r:embed="rId4"/>
            <a:stretch>
              <a:fillRect/>
            </a:stretch>
          </a:blipFill>
        </p:spPr>
      </p:sp>
      <p:sp>
        <p:nvSpPr>
          <p:cNvPr id="4" name="TextBox 4"/>
          <p:cNvSpPr txBox="1"/>
          <p:nvPr/>
        </p:nvSpPr>
        <p:spPr>
          <a:xfrm>
            <a:off x="1067082" y="1009650"/>
            <a:ext cx="11851883" cy="1162050"/>
          </a:xfrm>
          <a:prstGeom prst="rect">
            <a:avLst/>
          </a:prstGeom>
        </p:spPr>
        <p:txBody>
          <a:bodyPr lIns="0" tIns="0" rIns="0" bIns="0" rtlCol="0" anchor="t">
            <a:spAutoFit/>
          </a:bodyPr>
          <a:lstStyle/>
          <a:p>
            <a:pPr algn="l">
              <a:lnSpc>
                <a:spcPts val="9000"/>
              </a:lnSpc>
            </a:pPr>
            <a:r>
              <a:rPr lang="en-US" sz="7500">
                <a:solidFill>
                  <a:srgbClr val="000000"/>
                </a:solidFill>
                <a:latin typeface="Archivo Black"/>
                <a:ea typeface="Archivo Black"/>
                <a:cs typeface="Archivo Black"/>
                <a:sym typeface="Archivo Black"/>
              </a:rPr>
              <a:t>Dashboard Overview</a:t>
            </a:r>
          </a:p>
        </p:txBody>
      </p:sp>
      <p:sp>
        <p:nvSpPr>
          <p:cNvPr id="5" name="TextBox 5"/>
          <p:cNvSpPr txBox="1"/>
          <p:nvPr/>
        </p:nvSpPr>
        <p:spPr>
          <a:xfrm>
            <a:off x="1067082" y="2365608"/>
            <a:ext cx="16192218" cy="2658675"/>
          </a:xfrm>
          <a:prstGeom prst="rect">
            <a:avLst/>
          </a:prstGeom>
        </p:spPr>
        <p:txBody>
          <a:bodyPr lIns="0" tIns="0" rIns="0" bIns="0" rtlCol="0" anchor="t">
            <a:spAutoFit/>
          </a:bodyPr>
          <a:lstStyle/>
          <a:p>
            <a:pPr marL="453393" lvl="1" indent="-226697" algn="l">
              <a:lnSpc>
                <a:spcPts val="2688"/>
              </a:lnSpc>
              <a:buFont typeface="Arial"/>
              <a:buChar char="•"/>
            </a:pPr>
            <a:r>
              <a:rPr lang="en-US" sz="2100" dirty="0">
                <a:solidFill>
                  <a:srgbClr val="000000"/>
                </a:solidFill>
                <a:latin typeface="Garet"/>
                <a:ea typeface="Garet"/>
                <a:cs typeface="Garet"/>
                <a:sym typeface="Garet"/>
              </a:rPr>
              <a:t>The Sales Dashboard provides a single interactive view that makes data easy to explore and analyze, combining KPIs, charts, and slicers to give a complete picture of sales performance.</a:t>
            </a:r>
          </a:p>
          <a:p>
            <a:pPr algn="l">
              <a:lnSpc>
                <a:spcPts val="1120"/>
              </a:lnSpc>
            </a:pPr>
            <a:endParaRPr lang="en-US" sz="2100" dirty="0">
              <a:solidFill>
                <a:srgbClr val="000000"/>
              </a:solidFill>
              <a:latin typeface="Garet"/>
              <a:ea typeface="Garet"/>
              <a:cs typeface="Garet"/>
              <a:sym typeface="Garet"/>
            </a:endParaRPr>
          </a:p>
          <a:p>
            <a:pPr marL="453393" lvl="1" indent="-226697" algn="l">
              <a:lnSpc>
                <a:spcPts val="2688"/>
              </a:lnSpc>
              <a:buFont typeface="Arial"/>
              <a:buChar char="•"/>
            </a:pPr>
            <a:r>
              <a:rPr lang="en-US" sz="2100" dirty="0">
                <a:solidFill>
                  <a:srgbClr val="000000"/>
                </a:solidFill>
                <a:latin typeface="Garet"/>
                <a:ea typeface="Garet"/>
                <a:cs typeface="Garet"/>
                <a:sym typeface="Garet"/>
              </a:rPr>
              <a:t>Key performance indicators at the top display total adjusted sales, average sales per order, total discounts, and total profit, allowing quick evaluation of overall business performance.</a:t>
            </a:r>
          </a:p>
          <a:p>
            <a:pPr algn="l">
              <a:lnSpc>
                <a:spcPts val="1113"/>
              </a:lnSpc>
            </a:pPr>
            <a:endParaRPr lang="en-US" sz="2100" dirty="0">
              <a:solidFill>
                <a:srgbClr val="000000"/>
              </a:solidFill>
              <a:latin typeface="Garet"/>
              <a:ea typeface="Garet"/>
              <a:cs typeface="Garet"/>
              <a:sym typeface="Garet"/>
            </a:endParaRPr>
          </a:p>
          <a:p>
            <a:pPr marL="453393" lvl="1" indent="-226697" algn="l">
              <a:lnSpc>
                <a:spcPts val="2688"/>
              </a:lnSpc>
              <a:buFont typeface="Arial"/>
              <a:buChar char="•"/>
            </a:pPr>
            <a:r>
              <a:rPr lang="en-US" sz="2100" dirty="0">
                <a:solidFill>
                  <a:srgbClr val="000000"/>
                </a:solidFill>
                <a:latin typeface="Garet"/>
                <a:ea typeface="Garet"/>
                <a:cs typeface="Garet"/>
                <a:sym typeface="Garet"/>
              </a:rPr>
              <a:t>Charts are used to visualize trends by product category, sales channel, customer segment, and time periods, while slicers let users filter dynamically by category, segment, ship mode, and year, helping identify high-performing products and monitor trends efficiently.</a:t>
            </a:r>
          </a:p>
        </p:txBody>
      </p:sp>
      <p:sp>
        <p:nvSpPr>
          <p:cNvPr id="6" name="TextBox 6"/>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06/10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sp>
      <p:sp>
        <p:nvSpPr>
          <p:cNvPr id="3" name="Freeform 3"/>
          <p:cNvSpPr/>
          <p:nvPr/>
        </p:nvSpPr>
        <p:spPr>
          <a:xfrm>
            <a:off x="792260" y="5320618"/>
            <a:ext cx="3388995" cy="3251789"/>
          </a:xfrm>
          <a:custGeom>
            <a:avLst/>
            <a:gdLst/>
            <a:ahLst/>
            <a:cxnLst/>
            <a:rect l="l" t="t" r="r" b="b"/>
            <a:pathLst>
              <a:path w="3388995" h="3251789">
                <a:moveTo>
                  <a:pt x="0" y="0"/>
                </a:moveTo>
                <a:lnTo>
                  <a:pt x="3388994" y="0"/>
                </a:lnTo>
                <a:lnTo>
                  <a:pt x="3388994" y="3251789"/>
                </a:lnTo>
                <a:lnTo>
                  <a:pt x="0" y="3251789"/>
                </a:lnTo>
                <a:lnTo>
                  <a:pt x="0" y="0"/>
                </a:lnTo>
                <a:close/>
              </a:path>
            </a:pathLst>
          </a:custGeom>
          <a:blipFill>
            <a:blip r:embed="rId4"/>
            <a:stretch>
              <a:fillRect/>
            </a:stretch>
          </a:blipFill>
        </p:spPr>
      </p:sp>
      <p:sp>
        <p:nvSpPr>
          <p:cNvPr id="4" name="Freeform 4"/>
          <p:cNvSpPr/>
          <p:nvPr/>
        </p:nvSpPr>
        <p:spPr>
          <a:xfrm>
            <a:off x="12193570" y="7165871"/>
            <a:ext cx="5269584" cy="2092429"/>
          </a:xfrm>
          <a:custGeom>
            <a:avLst/>
            <a:gdLst/>
            <a:ahLst/>
            <a:cxnLst/>
            <a:rect l="l" t="t" r="r" b="b"/>
            <a:pathLst>
              <a:path w="5269584" h="2092429">
                <a:moveTo>
                  <a:pt x="0" y="0"/>
                </a:moveTo>
                <a:lnTo>
                  <a:pt x="5269584" y="0"/>
                </a:lnTo>
                <a:lnTo>
                  <a:pt x="5269584" y="2092429"/>
                </a:lnTo>
                <a:lnTo>
                  <a:pt x="0" y="2092429"/>
                </a:lnTo>
                <a:lnTo>
                  <a:pt x="0" y="0"/>
                </a:lnTo>
                <a:close/>
              </a:path>
            </a:pathLst>
          </a:custGeom>
          <a:blipFill>
            <a:blip r:embed="rId5"/>
            <a:stretch>
              <a:fillRect l="-17445" r="-13279"/>
            </a:stretch>
          </a:blipFill>
        </p:spPr>
      </p:sp>
      <p:grpSp>
        <p:nvGrpSpPr>
          <p:cNvPr id="5" name="Group 5"/>
          <p:cNvGrpSpPr/>
          <p:nvPr/>
        </p:nvGrpSpPr>
        <p:grpSpPr>
          <a:xfrm>
            <a:off x="12193570" y="4808603"/>
            <a:ext cx="5269584" cy="2031967"/>
            <a:chOff x="0" y="0"/>
            <a:chExt cx="7026112" cy="2709289"/>
          </a:xfrm>
        </p:grpSpPr>
        <p:sp>
          <p:nvSpPr>
            <p:cNvPr id="6" name="Freeform 6"/>
            <p:cNvSpPr/>
            <p:nvPr/>
          </p:nvSpPr>
          <p:spPr>
            <a:xfrm>
              <a:off x="0" y="270163"/>
              <a:ext cx="7026112" cy="2439127"/>
            </a:xfrm>
            <a:custGeom>
              <a:avLst/>
              <a:gdLst/>
              <a:ahLst/>
              <a:cxnLst/>
              <a:rect l="l" t="t" r="r" b="b"/>
              <a:pathLst>
                <a:path w="7026112" h="2439127">
                  <a:moveTo>
                    <a:pt x="0" y="0"/>
                  </a:moveTo>
                  <a:lnTo>
                    <a:pt x="7026112" y="0"/>
                  </a:lnTo>
                  <a:lnTo>
                    <a:pt x="7026112" y="2439126"/>
                  </a:lnTo>
                  <a:lnTo>
                    <a:pt x="0" y="2439126"/>
                  </a:lnTo>
                  <a:lnTo>
                    <a:pt x="0" y="0"/>
                  </a:lnTo>
                  <a:close/>
                </a:path>
              </a:pathLst>
            </a:custGeom>
            <a:blipFill>
              <a:blip r:embed="rId6"/>
              <a:stretch>
                <a:fillRect l="-13155" r="-12510"/>
              </a:stretch>
            </a:blipFill>
          </p:spPr>
        </p:sp>
        <p:sp>
          <p:nvSpPr>
            <p:cNvPr id="7" name="TextBox 7"/>
            <p:cNvSpPr txBox="1"/>
            <p:nvPr/>
          </p:nvSpPr>
          <p:spPr>
            <a:xfrm>
              <a:off x="0" y="-19050"/>
              <a:ext cx="4672243" cy="228745"/>
            </a:xfrm>
            <a:prstGeom prst="rect">
              <a:avLst/>
            </a:prstGeom>
          </p:spPr>
          <p:txBody>
            <a:bodyPr lIns="0" tIns="0" rIns="0" bIns="0" rtlCol="0" anchor="t">
              <a:spAutoFit/>
            </a:bodyPr>
            <a:lstStyle/>
            <a:p>
              <a:pPr marL="0" lvl="0" indent="0" algn="l">
                <a:lnSpc>
                  <a:spcPts val="1459"/>
                </a:lnSpc>
                <a:spcBef>
                  <a:spcPct val="0"/>
                </a:spcBef>
              </a:pPr>
              <a:r>
                <a:rPr lang="en-US" sz="1042">
                  <a:solidFill>
                    <a:srgbClr val="000000"/>
                  </a:solidFill>
                  <a:latin typeface="Garet"/>
                  <a:ea typeface="Garet"/>
                  <a:cs typeface="Garet"/>
                  <a:sym typeface="Garet"/>
                </a:rPr>
                <a:t>What-If Analysis Goal Seek Input:</a:t>
              </a:r>
            </a:p>
          </p:txBody>
        </p:sp>
      </p:grpSp>
      <p:sp>
        <p:nvSpPr>
          <p:cNvPr id="8" name="Freeform 8"/>
          <p:cNvSpPr/>
          <p:nvPr/>
        </p:nvSpPr>
        <p:spPr>
          <a:xfrm>
            <a:off x="4411122" y="5836281"/>
            <a:ext cx="7238955" cy="2736126"/>
          </a:xfrm>
          <a:custGeom>
            <a:avLst/>
            <a:gdLst/>
            <a:ahLst/>
            <a:cxnLst/>
            <a:rect l="l" t="t" r="r" b="b"/>
            <a:pathLst>
              <a:path w="7238955" h="2736126">
                <a:moveTo>
                  <a:pt x="0" y="0"/>
                </a:moveTo>
                <a:lnTo>
                  <a:pt x="7238955" y="0"/>
                </a:lnTo>
                <a:lnTo>
                  <a:pt x="7238955" y="2736126"/>
                </a:lnTo>
                <a:lnTo>
                  <a:pt x="0" y="2736126"/>
                </a:lnTo>
                <a:lnTo>
                  <a:pt x="0" y="0"/>
                </a:lnTo>
                <a:close/>
              </a:path>
            </a:pathLst>
          </a:custGeom>
          <a:blipFill>
            <a:blip r:embed="rId7"/>
            <a:stretch>
              <a:fillRect/>
            </a:stretch>
          </a:blipFill>
        </p:spPr>
      </p:sp>
      <p:sp>
        <p:nvSpPr>
          <p:cNvPr id="9" name="TextBox 9"/>
          <p:cNvSpPr txBox="1"/>
          <p:nvPr/>
        </p:nvSpPr>
        <p:spPr>
          <a:xfrm>
            <a:off x="1028700" y="854640"/>
            <a:ext cx="7359365" cy="1513051"/>
          </a:xfrm>
          <a:prstGeom prst="rect">
            <a:avLst/>
          </a:prstGeom>
        </p:spPr>
        <p:txBody>
          <a:bodyPr lIns="0" tIns="0" rIns="0" bIns="0" rtlCol="0" anchor="t">
            <a:spAutoFit/>
          </a:bodyPr>
          <a:lstStyle/>
          <a:p>
            <a:pPr marL="0" lvl="0" indent="0" algn="l">
              <a:lnSpc>
                <a:spcPts val="5820"/>
              </a:lnSpc>
              <a:spcBef>
                <a:spcPct val="0"/>
              </a:spcBef>
            </a:pPr>
            <a:r>
              <a:rPr lang="en-US" sz="5820" spc="-459">
                <a:solidFill>
                  <a:srgbClr val="000000"/>
                </a:solidFill>
                <a:latin typeface="Archivo Black"/>
                <a:ea typeface="Archivo Black"/>
                <a:cs typeface="Archivo Black"/>
                <a:sym typeface="Archivo Black"/>
              </a:rPr>
              <a:t>What-If Analysis &amp; Goal Seek</a:t>
            </a:r>
          </a:p>
        </p:txBody>
      </p:sp>
      <p:sp>
        <p:nvSpPr>
          <p:cNvPr id="10" name="TextBox 10"/>
          <p:cNvSpPr txBox="1"/>
          <p:nvPr/>
        </p:nvSpPr>
        <p:spPr>
          <a:xfrm>
            <a:off x="1028700" y="2623115"/>
            <a:ext cx="15726815" cy="2075429"/>
          </a:xfrm>
          <a:prstGeom prst="rect">
            <a:avLst/>
          </a:prstGeom>
        </p:spPr>
        <p:txBody>
          <a:bodyPr lIns="0" tIns="0" rIns="0" bIns="0" rtlCol="0" anchor="t">
            <a:spAutoFit/>
          </a:bodyPr>
          <a:lstStyle/>
          <a:p>
            <a:pPr marL="427925" lvl="1" indent="-213962" algn="l">
              <a:lnSpc>
                <a:spcPts val="2774"/>
              </a:lnSpc>
              <a:spcBef>
                <a:spcPct val="0"/>
              </a:spcBef>
              <a:buFont typeface="Arial"/>
              <a:buChar char="•"/>
            </a:pPr>
            <a:r>
              <a:rPr lang="en-US" sz="1982">
                <a:solidFill>
                  <a:srgbClr val="000000"/>
                </a:solidFill>
                <a:latin typeface="Garet"/>
                <a:ea typeface="Garet"/>
                <a:cs typeface="Garet"/>
                <a:sym typeface="Garet"/>
              </a:rPr>
              <a:t>Used Goal Seek on a single t</a:t>
            </a:r>
            <a:r>
              <a:rPr lang="en-US" sz="1982" u="none">
                <a:solidFill>
                  <a:srgbClr val="000000"/>
                </a:solidFill>
                <a:latin typeface="Garet"/>
                <a:ea typeface="Garet"/>
                <a:cs typeface="Garet"/>
                <a:sym typeface="Garet"/>
              </a:rPr>
              <a:t>ransaction to find the quantity required to reach AED 1000 in Adjusted Sales.</a:t>
            </a:r>
          </a:p>
          <a:p>
            <a:pPr marL="427925" lvl="1" indent="-213962" algn="l">
              <a:lnSpc>
                <a:spcPts val="2774"/>
              </a:lnSpc>
              <a:spcBef>
                <a:spcPct val="0"/>
              </a:spcBef>
              <a:buFont typeface="Arial"/>
              <a:buChar char="•"/>
            </a:pPr>
            <a:r>
              <a:rPr lang="en-US" sz="1982" u="none">
                <a:solidFill>
                  <a:srgbClr val="000000"/>
                </a:solidFill>
                <a:latin typeface="Garet"/>
                <a:ea typeface="Garet"/>
                <a:cs typeface="Garet"/>
                <a:sym typeface="Garet"/>
              </a:rPr>
              <a:t>Reverted the transaction back to its original value of AED 523.96 to verify calculations.</a:t>
            </a:r>
          </a:p>
          <a:p>
            <a:pPr marL="427925" lvl="1" indent="-213962" algn="l">
              <a:lnSpc>
                <a:spcPts val="2774"/>
              </a:lnSpc>
              <a:spcBef>
                <a:spcPct val="0"/>
              </a:spcBef>
              <a:buFont typeface="Arial"/>
              <a:buChar char="•"/>
            </a:pPr>
            <a:r>
              <a:rPr lang="en-US" sz="1982" u="none">
                <a:solidFill>
                  <a:srgbClr val="000000"/>
                </a:solidFill>
                <a:latin typeface="Garet"/>
                <a:ea typeface="Garet"/>
                <a:cs typeface="Garet"/>
                <a:sym typeface="Garet"/>
              </a:rPr>
              <a:t>Applied Scenario Manager to test a 10% increase in sales and a 5% decrease in discounts.</a:t>
            </a:r>
          </a:p>
          <a:p>
            <a:pPr marL="427925" lvl="1" indent="-213962" algn="l">
              <a:lnSpc>
                <a:spcPts val="2774"/>
              </a:lnSpc>
              <a:spcBef>
                <a:spcPct val="0"/>
              </a:spcBef>
              <a:buFont typeface="Arial"/>
              <a:buChar char="•"/>
            </a:pPr>
            <a:r>
              <a:rPr lang="en-US" sz="1982" u="none">
                <a:solidFill>
                  <a:srgbClr val="000000"/>
                </a:solidFill>
                <a:latin typeface="Garet"/>
                <a:ea typeface="Garet"/>
                <a:cs typeface="Garet"/>
                <a:sym typeface="Garet"/>
              </a:rPr>
              <a:t>Set Total Adjusted Sales and Total Profit as result cells for scenario comparisons.</a:t>
            </a:r>
          </a:p>
          <a:p>
            <a:pPr marL="427925" lvl="1" indent="-213962" algn="l">
              <a:lnSpc>
                <a:spcPts val="2774"/>
              </a:lnSpc>
              <a:spcBef>
                <a:spcPct val="0"/>
              </a:spcBef>
              <a:buFont typeface="Arial"/>
              <a:buChar char="•"/>
            </a:pPr>
            <a:r>
              <a:rPr lang="en-US" sz="1982" u="none">
                <a:solidFill>
                  <a:srgbClr val="000000"/>
                </a:solidFill>
                <a:latin typeface="Garet"/>
                <a:ea typeface="Garet"/>
                <a:cs typeface="Garet"/>
                <a:sym typeface="Garet"/>
              </a:rPr>
              <a:t>Created a Scenario Summary showing the impact of each change on sales and profit, with supporting screenshots.</a:t>
            </a:r>
          </a:p>
          <a:p>
            <a:pPr algn="l">
              <a:lnSpc>
                <a:spcPts val="2774"/>
              </a:lnSpc>
              <a:spcBef>
                <a:spcPct val="0"/>
              </a:spcBef>
            </a:pPr>
            <a:endParaRPr lang="en-US" sz="1982" u="none">
              <a:solidFill>
                <a:srgbClr val="000000"/>
              </a:solidFill>
              <a:latin typeface="Garet"/>
              <a:ea typeface="Garet"/>
              <a:cs typeface="Garet"/>
              <a:sym typeface="Garet"/>
            </a:endParaRPr>
          </a:p>
        </p:txBody>
      </p:sp>
      <p:sp>
        <p:nvSpPr>
          <p:cNvPr id="11" name="TextBox 11"/>
          <p:cNvSpPr txBox="1"/>
          <p:nvPr/>
        </p:nvSpPr>
        <p:spPr>
          <a:xfrm>
            <a:off x="12193570" y="6931579"/>
            <a:ext cx="3679888" cy="184207"/>
          </a:xfrm>
          <a:prstGeom prst="rect">
            <a:avLst/>
          </a:prstGeom>
        </p:spPr>
        <p:txBody>
          <a:bodyPr lIns="0" tIns="0" rIns="0" bIns="0" rtlCol="0" anchor="t">
            <a:spAutoFit/>
          </a:bodyPr>
          <a:lstStyle/>
          <a:p>
            <a:pPr marL="0" lvl="0" indent="0" algn="l">
              <a:lnSpc>
                <a:spcPts val="1533"/>
              </a:lnSpc>
              <a:spcBef>
                <a:spcPct val="0"/>
              </a:spcBef>
            </a:pPr>
            <a:r>
              <a:rPr lang="en-US" sz="1095">
                <a:solidFill>
                  <a:srgbClr val="000000"/>
                </a:solidFill>
                <a:latin typeface="Garet"/>
                <a:ea typeface="Garet"/>
                <a:cs typeface="Garet"/>
                <a:sym typeface="Garet"/>
              </a:rPr>
              <a:t>What-If Analysis Goal Seek Output:</a:t>
            </a:r>
          </a:p>
        </p:txBody>
      </p:sp>
      <p:sp>
        <p:nvSpPr>
          <p:cNvPr id="12" name="TextBox 12"/>
          <p:cNvSpPr txBox="1"/>
          <p:nvPr/>
        </p:nvSpPr>
        <p:spPr>
          <a:xfrm>
            <a:off x="1371607" y="8726746"/>
            <a:ext cx="4164924" cy="184207"/>
          </a:xfrm>
          <a:prstGeom prst="rect">
            <a:avLst/>
          </a:prstGeom>
        </p:spPr>
        <p:txBody>
          <a:bodyPr lIns="0" tIns="0" rIns="0" bIns="0" rtlCol="0" anchor="t">
            <a:spAutoFit/>
          </a:bodyPr>
          <a:lstStyle/>
          <a:p>
            <a:pPr marL="0" lvl="0" indent="0" algn="l">
              <a:lnSpc>
                <a:spcPts val="1533"/>
              </a:lnSpc>
              <a:spcBef>
                <a:spcPct val="0"/>
              </a:spcBef>
            </a:pPr>
            <a:r>
              <a:rPr lang="en-US" sz="1095">
                <a:solidFill>
                  <a:srgbClr val="000000"/>
                </a:solidFill>
                <a:latin typeface="Garet"/>
                <a:ea typeface="Garet"/>
                <a:cs typeface="Garet"/>
                <a:sym typeface="Garet"/>
              </a:rPr>
              <a:t>What-If Analysis Senario Manager </a:t>
            </a:r>
          </a:p>
        </p:txBody>
      </p:sp>
      <p:sp>
        <p:nvSpPr>
          <p:cNvPr id="13" name="TextBox 13"/>
          <p:cNvSpPr txBox="1"/>
          <p:nvPr/>
        </p:nvSpPr>
        <p:spPr>
          <a:xfrm>
            <a:off x="6430225" y="8717473"/>
            <a:ext cx="4164924" cy="184207"/>
          </a:xfrm>
          <a:prstGeom prst="rect">
            <a:avLst/>
          </a:prstGeom>
        </p:spPr>
        <p:txBody>
          <a:bodyPr lIns="0" tIns="0" rIns="0" bIns="0" rtlCol="0" anchor="t">
            <a:spAutoFit/>
          </a:bodyPr>
          <a:lstStyle/>
          <a:p>
            <a:pPr marL="0" lvl="0" indent="0" algn="l">
              <a:lnSpc>
                <a:spcPts val="1533"/>
              </a:lnSpc>
              <a:spcBef>
                <a:spcPct val="0"/>
              </a:spcBef>
            </a:pPr>
            <a:r>
              <a:rPr lang="en-US" sz="1095">
                <a:solidFill>
                  <a:srgbClr val="000000"/>
                </a:solidFill>
                <a:latin typeface="Garet"/>
                <a:ea typeface="Garet"/>
                <a:cs typeface="Garet"/>
                <a:sym typeface="Garet"/>
              </a:rPr>
              <a:t>What-If Analysis Senario Summary</a:t>
            </a:r>
          </a:p>
        </p:txBody>
      </p:sp>
      <p:sp>
        <p:nvSpPr>
          <p:cNvPr id="14" name="TextBox 14"/>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07/10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sp>
      <p:sp>
        <p:nvSpPr>
          <p:cNvPr id="3" name="Freeform 3"/>
          <p:cNvSpPr/>
          <p:nvPr/>
        </p:nvSpPr>
        <p:spPr>
          <a:xfrm>
            <a:off x="1371600" y="4677564"/>
            <a:ext cx="9413606" cy="5002357"/>
          </a:xfrm>
          <a:custGeom>
            <a:avLst/>
            <a:gdLst/>
            <a:ahLst/>
            <a:cxnLst/>
            <a:rect l="l" t="t" r="r" b="b"/>
            <a:pathLst>
              <a:path w="9413606" h="5002357">
                <a:moveTo>
                  <a:pt x="0" y="0"/>
                </a:moveTo>
                <a:lnTo>
                  <a:pt x="9413606" y="0"/>
                </a:lnTo>
                <a:lnTo>
                  <a:pt x="9413606" y="5002358"/>
                </a:lnTo>
                <a:lnTo>
                  <a:pt x="0" y="5002358"/>
                </a:lnTo>
                <a:lnTo>
                  <a:pt x="0" y="0"/>
                </a:lnTo>
                <a:close/>
              </a:path>
            </a:pathLst>
          </a:custGeom>
          <a:blipFill>
            <a:blip r:embed="rId4"/>
            <a:stretch>
              <a:fillRect l="-4247" t="-5115" r="-979" b="-2557"/>
            </a:stretch>
          </a:blipFill>
        </p:spPr>
        <p:txBody>
          <a:bodyPr/>
          <a:lstStyle/>
          <a:p>
            <a:endParaRPr lang="en-IN" dirty="0"/>
          </a:p>
        </p:txBody>
      </p:sp>
      <p:sp>
        <p:nvSpPr>
          <p:cNvPr id="4" name="TextBox 4"/>
          <p:cNvSpPr txBox="1"/>
          <p:nvPr/>
        </p:nvSpPr>
        <p:spPr>
          <a:xfrm>
            <a:off x="1090504" y="2672377"/>
            <a:ext cx="15139905" cy="1980534"/>
          </a:xfrm>
          <a:prstGeom prst="rect">
            <a:avLst/>
          </a:prstGeom>
        </p:spPr>
        <p:txBody>
          <a:bodyPr lIns="0" tIns="0" rIns="0" bIns="0" rtlCol="0" anchor="t">
            <a:spAutoFit/>
          </a:bodyPr>
          <a:lstStyle/>
          <a:p>
            <a:pPr marL="410477" lvl="1" indent="-205238" algn="l">
              <a:lnSpc>
                <a:spcPts val="2661"/>
              </a:lnSpc>
              <a:buFont typeface="Arial"/>
              <a:buChar char="•"/>
            </a:pPr>
            <a:r>
              <a:rPr lang="en-US" sz="1901">
                <a:solidFill>
                  <a:srgbClr val="000000"/>
                </a:solidFill>
                <a:latin typeface="Garet"/>
                <a:ea typeface="Garet"/>
                <a:cs typeface="Garet"/>
                <a:sym typeface="Garet"/>
              </a:rPr>
              <a:t>Recorded a macro to format the worksheet consistently including currency, headers, and frozen top row.</a:t>
            </a:r>
          </a:p>
          <a:p>
            <a:pPr marL="410477" lvl="1" indent="-205238" algn="l">
              <a:lnSpc>
                <a:spcPts val="2661"/>
              </a:lnSpc>
              <a:buFont typeface="Arial"/>
              <a:buChar char="•"/>
            </a:pPr>
            <a:r>
              <a:rPr lang="en-US" sz="1901">
                <a:solidFill>
                  <a:srgbClr val="000000"/>
                </a:solidFill>
                <a:latin typeface="Garet"/>
                <a:ea typeface="Garet"/>
                <a:cs typeface="Garet"/>
                <a:sym typeface="Garet"/>
              </a:rPr>
              <a:t>Created macros to generate PivotTables and PivotCharts for sales, category, and profit analysis.</a:t>
            </a:r>
          </a:p>
          <a:p>
            <a:pPr marL="410477" lvl="1" indent="-205238" algn="l">
              <a:lnSpc>
                <a:spcPts val="2661"/>
              </a:lnSpc>
              <a:buFont typeface="Arial"/>
              <a:buChar char="•"/>
            </a:pPr>
            <a:r>
              <a:rPr lang="en-US" sz="1901">
                <a:solidFill>
                  <a:srgbClr val="000000"/>
                </a:solidFill>
                <a:latin typeface="Garet"/>
                <a:ea typeface="Garet"/>
                <a:cs typeface="Garet"/>
                <a:sym typeface="Garet"/>
              </a:rPr>
              <a:t>Built a macro to update Adjusted Sales calculations automatically when new data is added.</a:t>
            </a:r>
          </a:p>
          <a:p>
            <a:pPr marL="410477" lvl="1" indent="-205238" algn="l">
              <a:lnSpc>
                <a:spcPts val="2661"/>
              </a:lnSpc>
              <a:buFont typeface="Arial"/>
              <a:buChar char="•"/>
            </a:pPr>
            <a:r>
              <a:rPr lang="en-US" sz="1901">
                <a:solidFill>
                  <a:srgbClr val="000000"/>
                </a:solidFill>
                <a:latin typeface="Garet"/>
                <a:ea typeface="Garet"/>
                <a:cs typeface="Garet"/>
                <a:sym typeface="Garet"/>
              </a:rPr>
              <a:t>Assigned all macros to dashboard buttons for one-click execution.</a:t>
            </a:r>
          </a:p>
          <a:p>
            <a:pPr marL="410477" lvl="1" indent="-205238" algn="l">
              <a:lnSpc>
                <a:spcPts val="2661"/>
              </a:lnSpc>
              <a:buFont typeface="Arial"/>
              <a:buChar char="•"/>
            </a:pPr>
            <a:r>
              <a:rPr lang="en-US" sz="1901">
                <a:solidFill>
                  <a:srgbClr val="000000"/>
                </a:solidFill>
                <a:latin typeface="Garet"/>
                <a:ea typeface="Garet"/>
                <a:cs typeface="Garet"/>
                <a:sym typeface="Garet"/>
              </a:rPr>
              <a:t>Automation streamlined repetitive tasks, ensured consistency, and enabled fast updates across the report.</a:t>
            </a:r>
          </a:p>
          <a:p>
            <a:pPr algn="l">
              <a:lnSpc>
                <a:spcPts val="2661"/>
              </a:lnSpc>
            </a:pPr>
            <a:endParaRPr lang="en-US" sz="1901">
              <a:solidFill>
                <a:srgbClr val="000000"/>
              </a:solidFill>
              <a:latin typeface="Garet"/>
              <a:ea typeface="Garet"/>
              <a:cs typeface="Garet"/>
              <a:sym typeface="Garet"/>
            </a:endParaRPr>
          </a:p>
        </p:txBody>
      </p:sp>
      <p:sp>
        <p:nvSpPr>
          <p:cNvPr id="5" name="TextBox 5"/>
          <p:cNvSpPr txBox="1"/>
          <p:nvPr/>
        </p:nvSpPr>
        <p:spPr>
          <a:xfrm>
            <a:off x="1028700" y="854640"/>
            <a:ext cx="5680646" cy="1513051"/>
          </a:xfrm>
          <a:prstGeom prst="rect">
            <a:avLst/>
          </a:prstGeom>
        </p:spPr>
        <p:txBody>
          <a:bodyPr lIns="0" tIns="0" rIns="0" bIns="0" rtlCol="0" anchor="t">
            <a:spAutoFit/>
          </a:bodyPr>
          <a:lstStyle/>
          <a:p>
            <a:pPr marL="0" lvl="0" indent="0" algn="l">
              <a:lnSpc>
                <a:spcPts val="5820"/>
              </a:lnSpc>
              <a:spcBef>
                <a:spcPct val="0"/>
              </a:spcBef>
            </a:pPr>
            <a:r>
              <a:rPr lang="en-US" sz="5820" spc="-459" dirty="0">
                <a:solidFill>
                  <a:srgbClr val="000000"/>
                </a:solidFill>
                <a:latin typeface="Archivo Black"/>
                <a:ea typeface="Archivo Black"/>
                <a:cs typeface="Archivo Black"/>
                <a:sym typeface="Archivo Black"/>
              </a:rPr>
              <a:t>Macros and Automation</a:t>
            </a:r>
          </a:p>
        </p:txBody>
      </p:sp>
      <p:sp>
        <p:nvSpPr>
          <p:cNvPr id="6" name="TextBox 6"/>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08/10</a:t>
            </a:r>
          </a:p>
        </p:txBody>
      </p:sp>
      <p:pic>
        <p:nvPicPr>
          <p:cNvPr id="8" name="Picture 7">
            <a:extLst>
              <a:ext uri="{FF2B5EF4-FFF2-40B4-BE49-F238E27FC236}">
                <a16:creationId xmlns:a16="http://schemas.microsoft.com/office/drawing/2014/main" id="{A4DDA841-058A-ACB7-0265-9503F158035F}"/>
              </a:ext>
            </a:extLst>
          </p:cNvPr>
          <p:cNvPicPr>
            <a:picLocks noChangeAspect="1"/>
          </p:cNvPicPr>
          <p:nvPr/>
        </p:nvPicPr>
        <p:blipFill>
          <a:blip r:embed="rId5"/>
          <a:stretch>
            <a:fillRect/>
          </a:stretch>
        </p:blipFill>
        <p:spPr>
          <a:xfrm>
            <a:off x="10916126" y="4677564"/>
            <a:ext cx="5054430" cy="50135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2404764" y="4993389"/>
            <a:ext cx="5075823" cy="2877283"/>
          </a:xfrm>
          <a:custGeom>
            <a:avLst/>
            <a:gdLst/>
            <a:ahLst/>
            <a:cxnLst/>
            <a:rect l="l" t="t" r="r" b="b"/>
            <a:pathLst>
              <a:path w="5075823" h="2877283">
                <a:moveTo>
                  <a:pt x="0" y="0"/>
                </a:moveTo>
                <a:lnTo>
                  <a:pt x="5075823" y="0"/>
                </a:lnTo>
                <a:lnTo>
                  <a:pt x="5075823" y="2877283"/>
                </a:lnTo>
                <a:lnTo>
                  <a:pt x="0" y="2877283"/>
                </a:lnTo>
                <a:lnTo>
                  <a:pt x="0" y="0"/>
                </a:lnTo>
                <a:close/>
              </a:path>
            </a:pathLst>
          </a:custGeom>
          <a:blipFill>
            <a:blip r:embed="rId3"/>
            <a:stretch>
              <a:fillRect/>
            </a:stretch>
          </a:blipFill>
        </p:spPr>
      </p:sp>
      <p:sp>
        <p:nvSpPr>
          <p:cNvPr id="4" name="Freeform 4"/>
          <p:cNvSpPr/>
          <p:nvPr/>
        </p:nvSpPr>
        <p:spPr>
          <a:xfrm>
            <a:off x="11341794" y="2843663"/>
            <a:ext cx="6138793" cy="1891751"/>
          </a:xfrm>
          <a:custGeom>
            <a:avLst/>
            <a:gdLst/>
            <a:ahLst/>
            <a:cxnLst/>
            <a:rect l="l" t="t" r="r" b="b"/>
            <a:pathLst>
              <a:path w="6138793" h="1891751">
                <a:moveTo>
                  <a:pt x="0" y="0"/>
                </a:moveTo>
                <a:lnTo>
                  <a:pt x="6138793" y="0"/>
                </a:lnTo>
                <a:lnTo>
                  <a:pt x="6138793" y="1891751"/>
                </a:lnTo>
                <a:lnTo>
                  <a:pt x="0" y="1891751"/>
                </a:lnTo>
                <a:lnTo>
                  <a:pt x="0" y="0"/>
                </a:lnTo>
                <a:close/>
              </a:path>
            </a:pathLst>
          </a:custGeom>
          <a:blipFill>
            <a:blip r:embed="rId4"/>
            <a:stretch>
              <a:fillRect/>
            </a:stretch>
          </a:blipFill>
        </p:spPr>
      </p:sp>
      <p:sp>
        <p:nvSpPr>
          <p:cNvPr id="5" name="TextBox 5"/>
          <p:cNvSpPr txBox="1"/>
          <p:nvPr/>
        </p:nvSpPr>
        <p:spPr>
          <a:xfrm>
            <a:off x="1028700" y="966187"/>
            <a:ext cx="7203393" cy="1233737"/>
          </a:xfrm>
          <a:prstGeom prst="rect">
            <a:avLst/>
          </a:prstGeom>
        </p:spPr>
        <p:txBody>
          <a:bodyPr lIns="0" tIns="0" rIns="0" bIns="0" rtlCol="0" anchor="t">
            <a:spAutoFit/>
          </a:bodyPr>
          <a:lstStyle/>
          <a:p>
            <a:pPr algn="l">
              <a:lnSpc>
                <a:spcPts val="4530"/>
              </a:lnSpc>
            </a:pPr>
            <a:r>
              <a:rPr lang="en-US" sz="5808" spc="-458">
                <a:solidFill>
                  <a:srgbClr val="000000"/>
                </a:solidFill>
                <a:latin typeface="Archivo Black"/>
                <a:ea typeface="Archivo Black"/>
                <a:cs typeface="Archivo Black"/>
                <a:sym typeface="Archivo Black"/>
              </a:rPr>
              <a:t>Insights and Recommendations</a:t>
            </a:r>
          </a:p>
        </p:txBody>
      </p:sp>
      <p:sp>
        <p:nvSpPr>
          <p:cNvPr id="6" name="TextBox 6"/>
          <p:cNvSpPr txBox="1"/>
          <p:nvPr/>
        </p:nvSpPr>
        <p:spPr>
          <a:xfrm>
            <a:off x="1028700" y="6092306"/>
            <a:ext cx="3299105" cy="339725"/>
          </a:xfrm>
          <a:prstGeom prst="rect">
            <a:avLst/>
          </a:prstGeom>
        </p:spPr>
        <p:txBody>
          <a:bodyPr lIns="0" tIns="0" rIns="0" bIns="0" rtlCol="0" anchor="t">
            <a:spAutoFit/>
          </a:bodyPr>
          <a:lstStyle/>
          <a:p>
            <a:pPr algn="l">
              <a:lnSpc>
                <a:spcPts val="2800"/>
              </a:lnSpc>
            </a:pPr>
            <a:r>
              <a:rPr lang="en-US" sz="2000" b="1">
                <a:solidFill>
                  <a:srgbClr val="000000"/>
                </a:solidFill>
                <a:latin typeface="Garet Bold"/>
                <a:ea typeface="Garet Bold"/>
                <a:cs typeface="Garet Bold"/>
                <a:sym typeface="Garet Bold"/>
              </a:rPr>
              <a:t>Recommendations</a:t>
            </a:r>
          </a:p>
        </p:txBody>
      </p:sp>
      <p:sp>
        <p:nvSpPr>
          <p:cNvPr id="7" name="TextBox 7"/>
          <p:cNvSpPr txBox="1"/>
          <p:nvPr/>
        </p:nvSpPr>
        <p:spPr>
          <a:xfrm>
            <a:off x="1028700" y="3356426"/>
            <a:ext cx="9605919" cy="2679481"/>
          </a:xfrm>
          <a:prstGeom prst="rect">
            <a:avLst/>
          </a:prstGeom>
        </p:spPr>
        <p:txBody>
          <a:bodyPr lIns="0" tIns="0" rIns="0" bIns="0" rtlCol="0" anchor="t">
            <a:spAutoFit/>
          </a:bodyPr>
          <a:lstStyle/>
          <a:p>
            <a:pPr marL="341691" lvl="1" indent="-170846" algn="just">
              <a:lnSpc>
                <a:spcPts val="2215"/>
              </a:lnSpc>
              <a:buFont typeface="Arial"/>
              <a:buChar char="•"/>
            </a:pPr>
            <a:r>
              <a:rPr lang="en-US" sz="1582">
                <a:solidFill>
                  <a:srgbClr val="000000"/>
                </a:solidFill>
                <a:latin typeface="Garet"/>
                <a:ea typeface="Garet"/>
                <a:cs typeface="Garet"/>
                <a:sym typeface="Garet"/>
              </a:rPr>
              <a:t>Standard Class is t</a:t>
            </a:r>
            <a:r>
              <a:rPr lang="en-US" sz="1582" u="none">
                <a:solidFill>
                  <a:srgbClr val="000000"/>
                </a:solidFill>
                <a:latin typeface="Garet"/>
                <a:ea typeface="Garet"/>
                <a:cs typeface="Garet"/>
                <a:sym typeface="Garet"/>
              </a:rPr>
              <a:t>he top-performing sales channel with AED 1.36M, followed by Second Class (AED 459K), while Same Day contributes the least (AED 128K), showing customer preference for economical shipping.</a:t>
            </a:r>
          </a:p>
          <a:p>
            <a:pPr algn="just">
              <a:lnSpc>
                <a:spcPts val="675"/>
              </a:lnSpc>
              <a:spcBef>
                <a:spcPct val="0"/>
              </a:spcBef>
            </a:pPr>
            <a:endParaRPr lang="en-US" sz="1582" u="none">
              <a:solidFill>
                <a:srgbClr val="000000"/>
              </a:solidFill>
              <a:latin typeface="Garet"/>
              <a:ea typeface="Garet"/>
              <a:cs typeface="Garet"/>
              <a:sym typeface="Garet"/>
            </a:endParaRPr>
          </a:p>
          <a:p>
            <a:pPr marL="341691" lvl="1" indent="-170846" algn="just">
              <a:lnSpc>
                <a:spcPts val="2215"/>
              </a:lnSpc>
              <a:spcBef>
                <a:spcPct val="0"/>
              </a:spcBef>
              <a:buFont typeface="Arial"/>
              <a:buChar char="•"/>
            </a:pPr>
            <a:r>
              <a:rPr lang="en-US" sz="1582" u="none">
                <a:solidFill>
                  <a:srgbClr val="000000"/>
                </a:solidFill>
                <a:latin typeface="Garet"/>
                <a:ea typeface="Garet"/>
                <a:cs typeface="Garet"/>
                <a:sym typeface="Garet"/>
              </a:rPr>
              <a:t>Chairs and Phones lead product category sales with AED 1.42M and AED 1.38M respectively, while Fasteners perform the worst at AED 15.5K, highlighting strong demand in Technology and Furniture.</a:t>
            </a:r>
          </a:p>
          <a:p>
            <a:pPr algn="just">
              <a:lnSpc>
                <a:spcPts val="675"/>
              </a:lnSpc>
              <a:spcBef>
                <a:spcPct val="0"/>
              </a:spcBef>
            </a:pPr>
            <a:endParaRPr lang="en-US" sz="1582" u="none">
              <a:solidFill>
                <a:srgbClr val="000000"/>
              </a:solidFill>
              <a:latin typeface="Garet"/>
              <a:ea typeface="Garet"/>
              <a:cs typeface="Garet"/>
              <a:sym typeface="Garet"/>
            </a:endParaRPr>
          </a:p>
          <a:p>
            <a:pPr marL="341691" lvl="1" indent="-170846" algn="just">
              <a:lnSpc>
                <a:spcPts val="2215"/>
              </a:lnSpc>
              <a:spcBef>
                <a:spcPct val="0"/>
              </a:spcBef>
              <a:buFont typeface="Arial"/>
              <a:buChar char="•"/>
            </a:pPr>
            <a:r>
              <a:rPr lang="en-US" sz="1582" u="none">
                <a:solidFill>
                  <a:srgbClr val="000000"/>
                </a:solidFill>
                <a:latin typeface="Garet"/>
                <a:ea typeface="Garet"/>
                <a:cs typeface="Garet"/>
                <a:sym typeface="Garet"/>
              </a:rPr>
              <a:t>Standard Class generates the highest Adjusted Sales (AED 5.93M) but also the largest total discount (AED 970K), indicating discounts boost volume but reduce profitability.</a:t>
            </a:r>
          </a:p>
          <a:p>
            <a:pPr marL="0" lvl="0" indent="0" algn="just">
              <a:lnSpc>
                <a:spcPts val="2215"/>
              </a:lnSpc>
              <a:spcBef>
                <a:spcPct val="0"/>
              </a:spcBef>
            </a:pPr>
            <a:endParaRPr lang="en-US" sz="1582" u="none">
              <a:solidFill>
                <a:srgbClr val="000000"/>
              </a:solidFill>
              <a:latin typeface="Garet"/>
              <a:ea typeface="Garet"/>
              <a:cs typeface="Garet"/>
              <a:sym typeface="Garet"/>
            </a:endParaRPr>
          </a:p>
        </p:txBody>
      </p:sp>
      <p:sp>
        <p:nvSpPr>
          <p:cNvPr id="8" name="TextBox 8"/>
          <p:cNvSpPr txBox="1"/>
          <p:nvPr/>
        </p:nvSpPr>
        <p:spPr>
          <a:xfrm>
            <a:off x="1028700" y="6600867"/>
            <a:ext cx="9973006" cy="2032743"/>
          </a:xfrm>
          <a:prstGeom prst="rect">
            <a:avLst/>
          </a:prstGeom>
        </p:spPr>
        <p:txBody>
          <a:bodyPr lIns="0" tIns="0" rIns="0" bIns="0" rtlCol="0" anchor="t">
            <a:spAutoFit/>
          </a:bodyPr>
          <a:lstStyle/>
          <a:p>
            <a:pPr marL="366069" lvl="1" indent="-183034" algn="just">
              <a:lnSpc>
                <a:spcPts val="2373"/>
              </a:lnSpc>
              <a:buFont typeface="Arial"/>
              <a:buChar char="•"/>
            </a:pPr>
            <a:r>
              <a:rPr lang="en-US" sz="1695">
                <a:solidFill>
                  <a:srgbClr val="000000"/>
                </a:solidFill>
                <a:latin typeface="Garet"/>
                <a:ea typeface="Garet"/>
                <a:cs typeface="Garet"/>
                <a:sym typeface="Garet"/>
              </a:rPr>
              <a:t>Optimize shipping by maintaining Standard Class reliability and cost-effectiveness and reviewing Same Day pricing to attract time-sensitive buyers.</a:t>
            </a:r>
          </a:p>
          <a:p>
            <a:pPr algn="just">
              <a:lnSpc>
                <a:spcPts val="1091"/>
              </a:lnSpc>
            </a:pPr>
            <a:endParaRPr lang="en-US" sz="1695">
              <a:solidFill>
                <a:srgbClr val="000000"/>
              </a:solidFill>
              <a:latin typeface="Garet"/>
              <a:ea typeface="Garet"/>
              <a:cs typeface="Garet"/>
              <a:sym typeface="Garet"/>
            </a:endParaRPr>
          </a:p>
          <a:p>
            <a:pPr marL="366069" lvl="1" indent="-183034" algn="just">
              <a:lnSpc>
                <a:spcPts val="2373"/>
              </a:lnSpc>
              <a:buFont typeface="Arial"/>
              <a:buChar char="•"/>
            </a:pPr>
            <a:r>
              <a:rPr lang="en-US" sz="1695">
                <a:solidFill>
                  <a:srgbClr val="000000"/>
                </a:solidFill>
                <a:latin typeface="Garet"/>
                <a:ea typeface="Garet"/>
                <a:cs typeface="Garet"/>
                <a:sym typeface="Garet"/>
              </a:rPr>
              <a:t>Boost high-performing product categories through promotions, and reconsider low performers like Fasteners with bundling, rebranding, or phase-out strategies.</a:t>
            </a:r>
          </a:p>
          <a:p>
            <a:pPr algn="just">
              <a:lnSpc>
                <a:spcPts val="1091"/>
              </a:lnSpc>
            </a:pPr>
            <a:endParaRPr lang="en-US" sz="1695">
              <a:solidFill>
                <a:srgbClr val="000000"/>
              </a:solidFill>
              <a:latin typeface="Garet"/>
              <a:ea typeface="Garet"/>
              <a:cs typeface="Garet"/>
              <a:sym typeface="Garet"/>
            </a:endParaRPr>
          </a:p>
          <a:p>
            <a:pPr marL="366069" lvl="1" indent="-183034" algn="just">
              <a:lnSpc>
                <a:spcPts val="2373"/>
              </a:lnSpc>
              <a:spcBef>
                <a:spcPct val="0"/>
              </a:spcBef>
              <a:buFont typeface="Arial"/>
              <a:buChar char="•"/>
            </a:pPr>
            <a:r>
              <a:rPr lang="en-US" sz="1695">
                <a:solidFill>
                  <a:srgbClr val="000000"/>
                </a:solidFill>
                <a:latin typeface="Garet"/>
                <a:ea typeface="Garet"/>
                <a:cs typeface="Garet"/>
                <a:sym typeface="Garet"/>
              </a:rPr>
              <a:t>Refine discount strategies using targeted or tiered discounts for loyal or bulk customers while monitoring discount-to-profit ratios quarterly.</a:t>
            </a:r>
          </a:p>
        </p:txBody>
      </p:sp>
      <p:sp>
        <p:nvSpPr>
          <p:cNvPr id="9" name="TextBox 9"/>
          <p:cNvSpPr txBox="1"/>
          <p:nvPr/>
        </p:nvSpPr>
        <p:spPr>
          <a:xfrm>
            <a:off x="1028700" y="2805563"/>
            <a:ext cx="4764688" cy="33972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000000"/>
                </a:solidFill>
                <a:latin typeface="Garet Bold"/>
                <a:ea typeface="Garet Bold"/>
                <a:cs typeface="Garet Bold"/>
                <a:sym typeface="Garet Bold"/>
              </a:rPr>
              <a:t>KEY I</a:t>
            </a:r>
            <a:r>
              <a:rPr lang="en-US" sz="2000" b="1" u="none">
                <a:solidFill>
                  <a:srgbClr val="000000"/>
                </a:solidFill>
                <a:latin typeface="Garet Bold"/>
                <a:ea typeface="Garet Bold"/>
                <a:cs typeface="Garet Bold"/>
                <a:sym typeface="Garet Bold"/>
              </a:rPr>
              <a:t>NSIGHTS</a:t>
            </a:r>
          </a:p>
        </p:txBody>
      </p:sp>
      <p:sp>
        <p:nvSpPr>
          <p:cNvPr id="10" name="AutoShape 10"/>
          <p:cNvSpPr/>
          <p:nvPr/>
        </p:nvSpPr>
        <p:spPr>
          <a:xfrm>
            <a:off x="-585133" y="9282113"/>
            <a:ext cx="18873133" cy="0"/>
          </a:xfrm>
          <a:prstGeom prst="line">
            <a:avLst/>
          </a:prstGeom>
          <a:ln w="9525" cap="rnd">
            <a:solidFill>
              <a:srgbClr val="000000"/>
            </a:solidFill>
            <a:prstDash val="solid"/>
            <a:headEnd type="none" w="sm" len="sm"/>
            <a:tailEnd type="none" w="sm" len="sm"/>
          </a:ln>
        </p:spPr>
      </p:sp>
      <p:sp>
        <p:nvSpPr>
          <p:cNvPr id="11" name="AutoShape 11"/>
          <p:cNvSpPr/>
          <p:nvPr/>
        </p:nvSpPr>
        <p:spPr>
          <a:xfrm>
            <a:off x="-585133" y="9810754"/>
            <a:ext cx="18873133" cy="0"/>
          </a:xfrm>
          <a:prstGeom prst="line">
            <a:avLst/>
          </a:prstGeom>
          <a:ln w="9525" cap="rnd">
            <a:solidFill>
              <a:srgbClr val="000000"/>
            </a:solidFill>
            <a:prstDash val="solid"/>
            <a:headEnd type="none" w="sm" len="sm"/>
            <a:tailEnd type="none" w="sm" len="sm"/>
          </a:ln>
        </p:spPr>
      </p:sp>
      <p:sp>
        <p:nvSpPr>
          <p:cNvPr id="12" name="TextBox 12"/>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09/10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1763059" y="2186692"/>
            <a:ext cx="7889718" cy="8229600"/>
          </a:xfrm>
          <a:custGeom>
            <a:avLst/>
            <a:gdLst/>
            <a:ahLst/>
            <a:cxnLst/>
            <a:rect l="l" t="t" r="r" b="b"/>
            <a:pathLst>
              <a:path w="7889718" h="8229600">
                <a:moveTo>
                  <a:pt x="0" y="0"/>
                </a:moveTo>
                <a:lnTo>
                  <a:pt x="7889718" y="0"/>
                </a:lnTo>
                <a:lnTo>
                  <a:pt x="7889718" y="8229600"/>
                </a:lnTo>
                <a:lnTo>
                  <a:pt x="0" y="8229600"/>
                </a:lnTo>
                <a:lnTo>
                  <a:pt x="0" y="0"/>
                </a:lnTo>
                <a:close/>
              </a:path>
            </a:pathLst>
          </a:custGeom>
          <a:blipFill>
            <a:blip r:embed="rId3"/>
            <a:stretch>
              <a:fillRect/>
            </a:stretch>
          </a:blipFill>
        </p:spPr>
      </p:sp>
      <p:sp>
        <p:nvSpPr>
          <p:cNvPr id="4" name="TextBox 4"/>
          <p:cNvSpPr txBox="1"/>
          <p:nvPr/>
        </p:nvSpPr>
        <p:spPr>
          <a:xfrm>
            <a:off x="1028700" y="2292186"/>
            <a:ext cx="5660824" cy="743008"/>
          </a:xfrm>
          <a:prstGeom prst="rect">
            <a:avLst/>
          </a:prstGeom>
        </p:spPr>
        <p:txBody>
          <a:bodyPr lIns="0" tIns="0" rIns="0" bIns="0" rtlCol="0" anchor="t">
            <a:spAutoFit/>
          </a:bodyPr>
          <a:lstStyle/>
          <a:p>
            <a:pPr marL="0" lvl="0" indent="0" algn="l">
              <a:lnSpc>
                <a:spcPts val="5154"/>
              </a:lnSpc>
              <a:spcBef>
                <a:spcPct val="0"/>
              </a:spcBef>
            </a:pPr>
            <a:r>
              <a:rPr lang="en-US" sz="6608" spc="-522">
                <a:solidFill>
                  <a:srgbClr val="000000"/>
                </a:solidFill>
                <a:latin typeface="Archivo Black"/>
                <a:ea typeface="Archivo Black"/>
                <a:cs typeface="Archivo Black"/>
                <a:sym typeface="Archivo Black"/>
              </a:rPr>
              <a:t>C</a:t>
            </a:r>
            <a:r>
              <a:rPr lang="en-US" sz="6608" u="none" spc="-522">
                <a:solidFill>
                  <a:srgbClr val="000000"/>
                </a:solidFill>
                <a:latin typeface="Archivo Black"/>
                <a:ea typeface="Archivo Black"/>
                <a:cs typeface="Archivo Black"/>
                <a:sym typeface="Archivo Black"/>
              </a:rPr>
              <a:t>onclusion</a:t>
            </a:r>
          </a:p>
        </p:txBody>
      </p:sp>
      <p:sp>
        <p:nvSpPr>
          <p:cNvPr id="5" name="TextBox 5"/>
          <p:cNvSpPr txBox="1"/>
          <p:nvPr/>
        </p:nvSpPr>
        <p:spPr>
          <a:xfrm>
            <a:off x="1028700" y="3589218"/>
            <a:ext cx="12798596" cy="4074394"/>
          </a:xfrm>
          <a:prstGeom prst="rect">
            <a:avLst/>
          </a:prstGeom>
        </p:spPr>
        <p:txBody>
          <a:bodyPr lIns="0" tIns="0" rIns="0" bIns="0" rtlCol="0" anchor="t">
            <a:spAutoFit/>
          </a:bodyPr>
          <a:lstStyle/>
          <a:p>
            <a:pPr marL="0" lvl="0" indent="0" algn="l">
              <a:lnSpc>
                <a:spcPts val="3277"/>
              </a:lnSpc>
              <a:spcBef>
                <a:spcPct val="0"/>
              </a:spcBef>
            </a:pPr>
            <a:r>
              <a:rPr lang="en-US" sz="2340">
                <a:solidFill>
                  <a:srgbClr val="000000"/>
                </a:solidFill>
                <a:latin typeface="Garet"/>
                <a:ea typeface="Garet"/>
                <a:cs typeface="Garet"/>
                <a:sym typeface="Garet"/>
              </a:rPr>
              <a:t>The p</a:t>
            </a:r>
            <a:r>
              <a:rPr lang="en-US" sz="2340" u="none">
                <a:solidFill>
                  <a:srgbClr val="000000"/>
                </a:solidFill>
                <a:latin typeface="Garet"/>
                <a:ea typeface="Garet"/>
                <a:cs typeface="Garet"/>
                <a:sym typeface="Garet"/>
              </a:rPr>
              <a:t>roject successfully analyzed sales data to provide actionable insights for the business, focusing on top-performing sales channels and products. Standard Class drives the most revenue while high-value categories like Chairs and Phones dominate adjusted sales, showing customer preferences. </a:t>
            </a:r>
          </a:p>
          <a:p>
            <a:pPr marL="0" lvl="0" indent="0" algn="l">
              <a:lnSpc>
                <a:spcPts val="3277"/>
              </a:lnSpc>
              <a:spcBef>
                <a:spcPct val="0"/>
              </a:spcBef>
            </a:pPr>
            <a:endParaRPr lang="en-US" sz="2340" u="none">
              <a:solidFill>
                <a:srgbClr val="000000"/>
              </a:solidFill>
              <a:latin typeface="Garet"/>
              <a:ea typeface="Garet"/>
              <a:cs typeface="Garet"/>
              <a:sym typeface="Garet"/>
            </a:endParaRPr>
          </a:p>
          <a:p>
            <a:pPr marL="0" lvl="0" indent="0" algn="l">
              <a:lnSpc>
                <a:spcPts val="3277"/>
              </a:lnSpc>
              <a:spcBef>
                <a:spcPct val="0"/>
              </a:spcBef>
            </a:pPr>
            <a:r>
              <a:rPr lang="en-US" sz="2340" u="none">
                <a:solidFill>
                  <a:srgbClr val="000000"/>
                </a:solidFill>
                <a:latin typeface="Garet"/>
                <a:ea typeface="Garet"/>
                <a:cs typeface="Garet"/>
                <a:sym typeface="Garet"/>
              </a:rPr>
              <a:t>Discounts improved sales volumes but impacted profitability, highlighting the need for targeted and strategic discount policies. Seasonal and time-based analysis identified peak sales periods, helping plan promotions and manage inventory effectively. Future steps include forecasting upcoming sales, optimizing discount strategies, and ensuring data accuracy for continued performance improvement.</a:t>
            </a:r>
          </a:p>
        </p:txBody>
      </p:sp>
      <p:sp>
        <p:nvSpPr>
          <p:cNvPr id="6" name="TextBox 6"/>
          <p:cNvSpPr txBox="1"/>
          <p:nvPr/>
        </p:nvSpPr>
        <p:spPr>
          <a:xfrm>
            <a:off x="13547377" y="9395677"/>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1675</Words>
  <Application>Microsoft Office PowerPoint</Application>
  <PresentationFormat>Custom</PresentationFormat>
  <Paragraphs>120</Paragraphs>
  <Slides>10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Garet</vt:lpstr>
      <vt:lpstr>Garet Bold</vt:lpstr>
      <vt:lpstr>Archivo Black</vt:lpstr>
      <vt:lpstr>Calibri</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&amp; batch</dc:title>
  <cp:lastModifiedBy>DELL</cp:lastModifiedBy>
  <cp:revision>5</cp:revision>
  <dcterms:created xsi:type="dcterms:W3CDTF">2006-08-16T00:00:00Z</dcterms:created>
  <dcterms:modified xsi:type="dcterms:W3CDTF">2025-11-05T17:09:45Z</dcterms:modified>
  <dc:identifier>DAG2079uCas</dc:identifier>
</cp:coreProperties>
</file>